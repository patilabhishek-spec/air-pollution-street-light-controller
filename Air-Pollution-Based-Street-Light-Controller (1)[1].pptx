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1" r:id="rId1"/>
  </p:sldMasterIdLst>
  <p:sldIdLst>
    <p:sldId id="256" r:id="rId2"/>
    <p:sldId id="266" r:id="rId3"/>
    <p:sldId id="257" r:id="rId4"/>
    <p:sldId id="267" r:id="rId5"/>
    <p:sldId id="268" r:id="rId6"/>
    <p:sldId id="269" r:id="rId7"/>
    <p:sldId id="270" r:id="rId8"/>
    <p:sldId id="271" r:id="rId9"/>
    <p:sldId id="272" r:id="rId10"/>
    <p:sldId id="273" r:id="rId11"/>
    <p:sldId id="274" r:id="rId12"/>
    <p:sldId id="275" r:id="rId13"/>
    <p:sldId id="282" r:id="rId14"/>
    <p:sldId id="276" r:id="rId15"/>
    <p:sldId id="277" r:id="rId16"/>
    <p:sldId id="259" r:id="rId17"/>
    <p:sldId id="278" r:id="rId18"/>
    <p:sldId id="283" r:id="rId19"/>
    <p:sldId id="279" r:id="rId20"/>
    <p:sldId id="284" r:id="rId21"/>
    <p:sldId id="280" r:id="rId22"/>
    <p:sldId id="281" r:id="rId23"/>
  </p:sldIdLst>
  <p:sldSz cx="11430000" cy="8578850"/>
  <p:notesSz cx="11430000" cy="85788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21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046" y="28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978" y="8006927"/>
            <a:ext cx="11427024" cy="5719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7923760"/>
            <a:ext cx="11427024" cy="80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28700" y="949393"/>
            <a:ext cx="9429750" cy="4461002"/>
          </a:xfrm>
        </p:spPr>
        <p:txBody>
          <a:bodyPr anchor="b">
            <a:normAutofit/>
          </a:bodyPr>
          <a:lstStyle>
            <a:lvl1pPr algn="l">
              <a:lnSpc>
                <a:spcPct val="85000"/>
              </a:lnSpc>
              <a:defRPr sz="10000" spc="-63"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031298" y="5573652"/>
            <a:ext cx="9429750" cy="1429808"/>
          </a:xfrm>
        </p:spPr>
        <p:txBody>
          <a:bodyPr lIns="91440" rIns="91440">
            <a:normAutofit/>
          </a:bodyPr>
          <a:lstStyle>
            <a:lvl1pPr marL="0" indent="0" algn="l">
              <a:buNone/>
              <a:defRPr sz="3000" cap="all" spc="250" baseline="0">
                <a:solidFill>
                  <a:schemeClr val="tx2"/>
                </a:solidFill>
                <a:latin typeface="+mj-lt"/>
              </a:defRPr>
            </a:lvl1pPr>
            <a:lvl2pPr marL="571500" indent="0" algn="ctr">
              <a:buNone/>
              <a:defRPr sz="3000"/>
            </a:lvl2pPr>
            <a:lvl3pPr marL="1143000" indent="0" algn="ctr">
              <a:buNone/>
              <a:defRPr sz="3000"/>
            </a:lvl3pPr>
            <a:lvl4pPr marL="1714500" indent="0" algn="ctr">
              <a:buNone/>
              <a:defRPr sz="2500"/>
            </a:lvl4pPr>
            <a:lvl5pPr marL="2286000" indent="0" algn="ctr">
              <a:buNone/>
              <a:defRPr sz="2500"/>
            </a:lvl5pPr>
            <a:lvl6pPr marL="2857500" indent="0" algn="ctr">
              <a:buNone/>
              <a:defRPr sz="2500"/>
            </a:lvl6pPr>
            <a:lvl7pPr marL="3429000" indent="0" algn="ctr">
              <a:buNone/>
              <a:defRPr sz="2500"/>
            </a:lvl7pPr>
            <a:lvl8pPr marL="4000500" indent="0" algn="ctr">
              <a:buNone/>
              <a:defRPr sz="2500"/>
            </a:lvl8pPr>
            <a:lvl9pPr marL="4572000" indent="0" algn="ctr">
              <a:buNone/>
              <a:defRPr sz="2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132180" y="5433272"/>
            <a:ext cx="92583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953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5636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978" y="8006927"/>
            <a:ext cx="11427024" cy="5719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7923760"/>
            <a:ext cx="11427024" cy="80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28700" y="949393"/>
            <a:ext cx="9429750" cy="4461002"/>
          </a:xfrm>
        </p:spPr>
        <p:txBody>
          <a:bodyPr anchor="b" anchorCtr="0">
            <a:normAutofit/>
          </a:bodyPr>
          <a:lstStyle>
            <a:lvl1pPr>
              <a:lnSpc>
                <a:spcPct val="85000"/>
              </a:lnSpc>
              <a:defRPr sz="10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5570533"/>
            <a:ext cx="9429750" cy="1429808"/>
          </a:xfrm>
        </p:spPr>
        <p:txBody>
          <a:bodyPr lIns="91440" rIns="91440" anchor="t" anchorCtr="0">
            <a:normAutofit/>
          </a:bodyPr>
          <a:lstStyle>
            <a:lvl1pPr marL="0" indent="0">
              <a:buNone/>
              <a:defRPr sz="3000" cap="all" spc="250" baseline="0">
                <a:solidFill>
                  <a:schemeClr val="tx2"/>
                </a:solidFill>
                <a:latin typeface="+mj-lt"/>
              </a:defRPr>
            </a:lvl1pPr>
            <a:lvl2pPr marL="571500" indent="0">
              <a:buNone/>
              <a:defRPr sz="2250">
                <a:solidFill>
                  <a:schemeClr val="tx1">
                    <a:tint val="75000"/>
                  </a:schemeClr>
                </a:solidFill>
              </a:defRPr>
            </a:lvl2pPr>
            <a:lvl3pPr marL="1143000" indent="0">
              <a:buNone/>
              <a:defRPr sz="2000">
                <a:solidFill>
                  <a:schemeClr val="tx1">
                    <a:tint val="75000"/>
                  </a:schemeClr>
                </a:solidFill>
              </a:defRPr>
            </a:lvl3pPr>
            <a:lvl4pPr marL="1714500" indent="0">
              <a:buNone/>
              <a:defRPr sz="1750">
                <a:solidFill>
                  <a:schemeClr val="tx1">
                    <a:tint val="75000"/>
                  </a:schemeClr>
                </a:solidFill>
              </a:defRPr>
            </a:lvl4pPr>
            <a:lvl5pPr marL="2286000" indent="0">
              <a:buNone/>
              <a:defRPr sz="1750">
                <a:solidFill>
                  <a:schemeClr val="tx1">
                    <a:tint val="75000"/>
                  </a:schemeClr>
                </a:solidFill>
              </a:defRPr>
            </a:lvl5pPr>
            <a:lvl6pPr marL="2857500" indent="0">
              <a:buNone/>
              <a:defRPr sz="1750">
                <a:solidFill>
                  <a:schemeClr val="tx1">
                    <a:tint val="75000"/>
                  </a:schemeClr>
                </a:solidFill>
              </a:defRPr>
            </a:lvl6pPr>
            <a:lvl7pPr marL="3429000" indent="0">
              <a:buNone/>
              <a:defRPr sz="1750">
                <a:solidFill>
                  <a:schemeClr val="tx1">
                    <a:tint val="75000"/>
                  </a:schemeClr>
                </a:solidFill>
              </a:defRPr>
            </a:lvl7pPr>
            <a:lvl8pPr marL="4000500" indent="0">
              <a:buNone/>
              <a:defRPr sz="1750">
                <a:solidFill>
                  <a:schemeClr val="tx1">
                    <a:tint val="75000"/>
                  </a:schemeClr>
                </a:solidFill>
              </a:defRPr>
            </a:lvl8pPr>
            <a:lvl9pPr marL="4572000" indent="0">
              <a:buNone/>
              <a:defRPr sz="17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132180" y="5433272"/>
            <a:ext cx="92583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731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28700" y="358521"/>
            <a:ext cx="9429750" cy="181479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8700" y="2308877"/>
            <a:ext cx="4629150" cy="5032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9300" y="2308880"/>
            <a:ext cx="4629150" cy="5032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59637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8700" y="358521"/>
            <a:ext cx="9429750" cy="18147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8700" y="2309274"/>
            <a:ext cx="4629150" cy="921034"/>
          </a:xfrm>
        </p:spPr>
        <p:txBody>
          <a:bodyPr lIns="91440" rIns="91440" anchor="ctr">
            <a:normAutofit/>
          </a:bodyPr>
          <a:lstStyle>
            <a:lvl1pPr marL="0" indent="0">
              <a:buNone/>
              <a:defRPr sz="2500" b="0" cap="all" baseline="0">
                <a:solidFill>
                  <a:schemeClr val="tx2"/>
                </a:solidFill>
              </a:defRPr>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n-US"/>
              <a:t>Click to edit Master text styles</a:t>
            </a:r>
          </a:p>
        </p:txBody>
      </p:sp>
      <p:sp>
        <p:nvSpPr>
          <p:cNvPr id="4" name="Content Placeholder 3"/>
          <p:cNvSpPr>
            <a:spLocks noGrp="1"/>
          </p:cNvSpPr>
          <p:nvPr>
            <p:ph sz="half" idx="2"/>
          </p:nvPr>
        </p:nvSpPr>
        <p:spPr>
          <a:xfrm>
            <a:off x="1028700" y="3230309"/>
            <a:ext cx="4629150" cy="4111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9300" y="2309274"/>
            <a:ext cx="4629150" cy="921034"/>
          </a:xfrm>
        </p:spPr>
        <p:txBody>
          <a:bodyPr lIns="91440" rIns="91440" anchor="ctr">
            <a:normAutofit/>
          </a:bodyPr>
          <a:lstStyle>
            <a:lvl1pPr marL="0" indent="0">
              <a:buNone/>
              <a:defRPr sz="2500" b="0" cap="all" baseline="0">
                <a:solidFill>
                  <a:schemeClr val="tx2"/>
                </a:solidFill>
              </a:defRPr>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n-US"/>
              <a:t>Click to edit Master text styles</a:t>
            </a:r>
          </a:p>
        </p:txBody>
      </p:sp>
      <p:sp>
        <p:nvSpPr>
          <p:cNvPr id="6" name="Content Placeholder 5"/>
          <p:cNvSpPr>
            <a:spLocks noGrp="1"/>
          </p:cNvSpPr>
          <p:nvPr>
            <p:ph sz="quarter" idx="4"/>
          </p:nvPr>
        </p:nvSpPr>
        <p:spPr>
          <a:xfrm>
            <a:off x="5829300" y="3230309"/>
            <a:ext cx="4629150" cy="4111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10/2/2025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70091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10/2/2025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388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978" y="8006927"/>
            <a:ext cx="11427024" cy="5719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7923760"/>
            <a:ext cx="11427024" cy="80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10/2/2025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9364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3797616" cy="85788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787566" y="0"/>
            <a:ext cx="60008" cy="8578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28625" y="743499"/>
            <a:ext cx="3000375" cy="2859617"/>
          </a:xfrm>
        </p:spPr>
        <p:txBody>
          <a:bodyPr anchor="b">
            <a:normAutofit/>
          </a:bodyPr>
          <a:lstStyle>
            <a:lvl1pPr>
              <a:defRPr sz="45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325297" y="915078"/>
            <a:ext cx="6261741" cy="65771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28625" y="3660309"/>
            <a:ext cx="3000375" cy="4227034"/>
          </a:xfrm>
        </p:spPr>
        <p:txBody>
          <a:bodyPr lIns="91440" rIns="91440">
            <a:normAutofit/>
          </a:bodyPr>
          <a:lstStyle>
            <a:lvl1pPr marL="0" indent="0">
              <a:buNone/>
              <a:defRPr sz="1875">
                <a:solidFill>
                  <a:srgbClr val="FFFFFF"/>
                </a:solidFill>
              </a:defRPr>
            </a:lvl1pPr>
            <a:lvl2pPr marL="571500" indent="0">
              <a:buNone/>
              <a:defRPr sz="1500"/>
            </a:lvl2pPr>
            <a:lvl3pPr marL="1143000" indent="0">
              <a:buNone/>
              <a:defRPr sz="1250"/>
            </a:lvl3pPr>
            <a:lvl4pPr marL="1714500" indent="0">
              <a:buNone/>
              <a:defRPr sz="1125"/>
            </a:lvl4pPr>
            <a:lvl5pPr marL="2286000" indent="0">
              <a:buNone/>
              <a:defRPr sz="1125"/>
            </a:lvl5pPr>
            <a:lvl6pPr marL="2857500" indent="0">
              <a:buNone/>
              <a:defRPr sz="1125"/>
            </a:lvl6pPr>
            <a:lvl7pPr marL="3429000" indent="0">
              <a:buNone/>
              <a:defRPr sz="1125"/>
            </a:lvl7pPr>
            <a:lvl8pPr marL="4000500" indent="0">
              <a:buNone/>
              <a:defRPr sz="1125"/>
            </a:lvl8pPr>
            <a:lvl9pPr marL="4572000" indent="0">
              <a:buNone/>
              <a:defRPr sz="1125"/>
            </a:lvl9pPr>
          </a:lstStyle>
          <a:p>
            <a:pPr lvl="0"/>
            <a:r>
              <a:rPr lang="en-US"/>
              <a:t>Click to edit Master text styles</a:t>
            </a:r>
          </a:p>
        </p:txBody>
      </p:sp>
      <p:sp>
        <p:nvSpPr>
          <p:cNvPr id="5" name="Date Placeholder 4"/>
          <p:cNvSpPr>
            <a:spLocks noGrp="1"/>
          </p:cNvSpPr>
          <p:nvPr>
            <p:ph type="dt" sz="half" idx="10"/>
          </p:nvPr>
        </p:nvSpPr>
        <p:spPr>
          <a:xfrm>
            <a:off x="436418" y="8080715"/>
            <a:ext cx="2454854" cy="456744"/>
          </a:xfrm>
        </p:spPr>
        <p:txBody>
          <a:bodyPr/>
          <a:lstStyle>
            <a:lvl1pPr algn="l">
              <a:defRPr/>
            </a:lvl1pPr>
          </a:lstStyle>
          <a:p>
            <a:fld id="{1D8BD707-D9CF-40AE-B4C6-C98DA3205C09}" type="datetimeFigureOut">
              <a:rPr lang="en-US" smtClean="0"/>
              <a:t>10/2/2025</a:t>
            </a:fld>
            <a:endParaRPr lang="en-US"/>
          </a:p>
        </p:txBody>
      </p:sp>
      <p:sp>
        <p:nvSpPr>
          <p:cNvPr id="6" name="Footer Placeholder 5"/>
          <p:cNvSpPr>
            <a:spLocks noGrp="1"/>
          </p:cNvSpPr>
          <p:nvPr>
            <p:ph type="ftr" sz="quarter" idx="11"/>
          </p:nvPr>
        </p:nvSpPr>
        <p:spPr>
          <a:xfrm>
            <a:off x="4500562" y="8080715"/>
            <a:ext cx="4357688" cy="456744"/>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950695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6195836"/>
            <a:ext cx="11427024" cy="2383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6148396"/>
            <a:ext cx="11427024" cy="80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28700" y="6348349"/>
            <a:ext cx="9486900" cy="1029462"/>
          </a:xfrm>
        </p:spPr>
        <p:txBody>
          <a:bodyPr tIns="0" bIns="0" anchor="b">
            <a:noAutofit/>
          </a:bodyPr>
          <a:lstStyle>
            <a:lvl1pPr>
              <a:defRPr sz="45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6" y="0"/>
            <a:ext cx="11429986" cy="6148396"/>
          </a:xfrm>
          <a:blipFill>
            <a:blip r:embed="rId2"/>
            <a:stretch>
              <a:fillRect/>
            </a:stretch>
          </a:blipFill>
        </p:spPr>
        <p:txBody>
          <a:bodyPr lIns="457200" tIns="457200" anchor="t"/>
          <a:lstStyle>
            <a:lvl1pPr marL="0" indent="0">
              <a:buNone/>
              <a:defRPr sz="4000">
                <a:solidFill>
                  <a:schemeClr val="bg1"/>
                </a:solidFill>
              </a:defRPr>
            </a:lvl1pPr>
            <a:lvl2pPr marL="571500" indent="0">
              <a:buNone/>
              <a:defRPr sz="3500"/>
            </a:lvl2pPr>
            <a:lvl3pPr marL="1143000" indent="0">
              <a:buNone/>
              <a:defRPr sz="3000"/>
            </a:lvl3pPr>
            <a:lvl4pPr marL="1714500" indent="0">
              <a:buNone/>
              <a:defRPr sz="2500"/>
            </a:lvl4pPr>
            <a:lvl5pPr marL="2286000" indent="0">
              <a:buNone/>
              <a:defRPr sz="2500"/>
            </a:lvl5pPr>
            <a:lvl6pPr marL="2857500" indent="0">
              <a:buNone/>
              <a:defRPr sz="2500"/>
            </a:lvl6pPr>
            <a:lvl7pPr marL="3429000" indent="0">
              <a:buNone/>
              <a:defRPr sz="2500"/>
            </a:lvl7pPr>
            <a:lvl8pPr marL="4000500" indent="0">
              <a:buNone/>
              <a:defRPr sz="2500"/>
            </a:lvl8pPr>
            <a:lvl9pPr marL="4572000" indent="0">
              <a:buNone/>
              <a:defRPr sz="2500"/>
            </a:lvl9pPr>
          </a:lstStyle>
          <a:p>
            <a:r>
              <a:rPr lang="en-US"/>
              <a:t>Click icon to add picture</a:t>
            </a:r>
            <a:endParaRPr lang="en-US" dirty="0"/>
          </a:p>
        </p:txBody>
      </p:sp>
      <p:sp>
        <p:nvSpPr>
          <p:cNvPr id="4" name="Text Placeholder 3"/>
          <p:cNvSpPr>
            <a:spLocks noGrp="1"/>
          </p:cNvSpPr>
          <p:nvPr>
            <p:ph type="body" sz="half" idx="2"/>
          </p:nvPr>
        </p:nvSpPr>
        <p:spPr>
          <a:xfrm>
            <a:off x="1028699" y="7389250"/>
            <a:ext cx="9486900" cy="743500"/>
          </a:xfrm>
        </p:spPr>
        <p:txBody>
          <a:bodyPr lIns="91440" tIns="0" rIns="91440" bIns="0">
            <a:normAutofit/>
          </a:bodyPr>
          <a:lstStyle>
            <a:lvl1pPr marL="0" indent="0">
              <a:spcBef>
                <a:spcPts val="0"/>
              </a:spcBef>
              <a:spcAft>
                <a:spcPts val="750"/>
              </a:spcAft>
              <a:buNone/>
              <a:defRPr sz="1875">
                <a:solidFill>
                  <a:srgbClr val="FFFFFF"/>
                </a:solidFill>
              </a:defRPr>
            </a:lvl1pPr>
            <a:lvl2pPr marL="571500" indent="0">
              <a:buNone/>
              <a:defRPr sz="1500"/>
            </a:lvl2pPr>
            <a:lvl3pPr marL="1143000" indent="0">
              <a:buNone/>
              <a:defRPr sz="1250"/>
            </a:lvl3pPr>
            <a:lvl4pPr marL="1714500" indent="0">
              <a:buNone/>
              <a:defRPr sz="1125"/>
            </a:lvl4pPr>
            <a:lvl5pPr marL="2286000" indent="0">
              <a:buNone/>
              <a:defRPr sz="1125"/>
            </a:lvl5pPr>
            <a:lvl6pPr marL="2857500" indent="0">
              <a:buNone/>
              <a:defRPr sz="1125"/>
            </a:lvl6pPr>
            <a:lvl7pPr marL="3429000" indent="0">
              <a:buNone/>
              <a:defRPr sz="1125"/>
            </a:lvl7pPr>
            <a:lvl8pPr marL="4000500" indent="0">
              <a:buNone/>
              <a:defRPr sz="1125"/>
            </a:lvl8pPr>
            <a:lvl9pPr marL="45720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52849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34596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978" y="8006927"/>
            <a:ext cx="11427024" cy="5719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7923760"/>
            <a:ext cx="11427024" cy="80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179594" y="518859"/>
            <a:ext cx="2464594" cy="720210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85813" y="518858"/>
            <a:ext cx="7250906" cy="7202106"/>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00234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8006927"/>
            <a:ext cx="11430001" cy="5719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7923759"/>
            <a:ext cx="11430001" cy="8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28700" y="358521"/>
            <a:ext cx="9429750" cy="18147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28699" y="2308877"/>
            <a:ext cx="9429751" cy="5032925"/>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8702" y="8080715"/>
            <a:ext cx="2317754" cy="456744"/>
          </a:xfrm>
          <a:prstGeom prst="rect">
            <a:avLst/>
          </a:prstGeom>
        </p:spPr>
        <p:txBody>
          <a:bodyPr vert="horz" lIns="91440" tIns="45720" rIns="91440" bIns="45720" rtlCol="0" anchor="ctr"/>
          <a:lstStyle>
            <a:lvl1pPr algn="l">
              <a:defRPr sz="1125">
                <a:solidFill>
                  <a:srgbClr val="FFFFFF"/>
                </a:solidFill>
              </a:defRPr>
            </a:lvl1pPr>
          </a:lstStyle>
          <a:p>
            <a:fld id="{1D8BD707-D9CF-40AE-B4C6-C98DA3205C09}" type="datetimeFigureOut">
              <a:rPr lang="en-US" smtClean="0"/>
              <a:t>10/2/2025</a:t>
            </a:fld>
            <a:endParaRPr lang="en-US"/>
          </a:p>
        </p:txBody>
      </p:sp>
      <p:sp>
        <p:nvSpPr>
          <p:cNvPr id="5" name="Footer Placeholder 4"/>
          <p:cNvSpPr>
            <a:spLocks noGrp="1"/>
          </p:cNvSpPr>
          <p:nvPr>
            <p:ph type="ftr" sz="quarter" idx="3"/>
          </p:nvPr>
        </p:nvSpPr>
        <p:spPr>
          <a:xfrm>
            <a:off x="3455799" y="8080715"/>
            <a:ext cx="4521379" cy="456744"/>
          </a:xfrm>
          <a:prstGeom prst="rect">
            <a:avLst/>
          </a:prstGeom>
        </p:spPr>
        <p:txBody>
          <a:bodyPr vert="horz" lIns="91440" tIns="45720" rIns="91440" bIns="45720" rtlCol="0" anchor="ctr"/>
          <a:lstStyle>
            <a:lvl1pPr algn="ctr">
              <a:defRPr sz="1125"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281681" y="8080715"/>
            <a:ext cx="1230024" cy="456744"/>
          </a:xfrm>
          <a:prstGeom prst="rect">
            <a:avLst/>
          </a:prstGeom>
        </p:spPr>
        <p:txBody>
          <a:bodyPr vert="horz" lIns="91440" tIns="45720" rIns="91440" bIns="45720" rtlCol="0" anchor="ctr"/>
          <a:lstStyle>
            <a:lvl1pPr algn="r">
              <a:defRPr sz="1313">
                <a:solidFill>
                  <a:srgbClr val="FFFFFF"/>
                </a:solidFill>
              </a:defRPr>
            </a:lvl1pPr>
          </a:lstStyle>
          <a:p>
            <a:fld id="{B6F15528-21DE-4FAA-801E-634DDDAF4B2B}" type="slidenum">
              <a:rPr lang="en-IN" smtClean="0"/>
              <a:t>‹#›</a:t>
            </a:fld>
            <a:endParaRPr lang="en-IN"/>
          </a:p>
        </p:txBody>
      </p:sp>
      <p:cxnSp>
        <p:nvCxnSpPr>
          <p:cNvPr id="10" name="Straight Connector 9"/>
          <p:cNvCxnSpPr/>
          <p:nvPr/>
        </p:nvCxnSpPr>
        <p:spPr>
          <a:xfrm>
            <a:off x="1118936" y="2173915"/>
            <a:ext cx="93440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69041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1143000" rtl="0" eaLnBrk="1" latinLnBrk="0" hangingPunct="1">
        <a:lnSpc>
          <a:spcPct val="85000"/>
        </a:lnSpc>
        <a:spcBef>
          <a:spcPct val="0"/>
        </a:spcBef>
        <a:buNone/>
        <a:defRPr sz="6000" kern="1200" spc="-63" baseline="0">
          <a:solidFill>
            <a:schemeClr val="tx1">
              <a:lumMod val="75000"/>
              <a:lumOff val="25000"/>
            </a:schemeClr>
          </a:solidFill>
          <a:latin typeface="+mj-lt"/>
          <a:ea typeface="+mj-ea"/>
          <a:cs typeface="+mj-cs"/>
        </a:defRPr>
      </a:lvl1pPr>
    </p:titleStyle>
    <p:bodyStyle>
      <a:lvl1pPr marL="114300" indent="-114300" algn="l" defTabSz="1143000" rtl="0" eaLnBrk="1" latinLnBrk="0" hangingPunct="1">
        <a:lnSpc>
          <a:spcPct val="90000"/>
        </a:lnSpc>
        <a:spcBef>
          <a:spcPts val="1500"/>
        </a:spcBef>
        <a:spcAft>
          <a:spcPts val="250"/>
        </a:spcAft>
        <a:buClr>
          <a:schemeClr val="accent1"/>
        </a:buClr>
        <a:buSzPct val="100000"/>
        <a:buFont typeface="Calibri" panose="020F0502020204030204" pitchFamily="34" charset="0"/>
        <a:buChar char=" "/>
        <a:defRPr sz="2500" kern="1200">
          <a:solidFill>
            <a:schemeClr val="tx1">
              <a:lumMod val="75000"/>
              <a:lumOff val="25000"/>
            </a:schemeClr>
          </a:solidFill>
          <a:latin typeface="+mn-lt"/>
          <a:ea typeface="+mn-ea"/>
          <a:cs typeface="+mn-cs"/>
        </a:defRPr>
      </a:lvl1pPr>
      <a:lvl2pPr marL="480060" indent="-228600" algn="l" defTabSz="1143000" rtl="0" eaLnBrk="1" latinLnBrk="0" hangingPunct="1">
        <a:lnSpc>
          <a:spcPct val="90000"/>
        </a:lnSpc>
        <a:spcBef>
          <a:spcPts val="250"/>
        </a:spcBef>
        <a:spcAft>
          <a:spcPts val="500"/>
        </a:spcAft>
        <a:buClr>
          <a:schemeClr val="accent1"/>
        </a:buClr>
        <a:buFont typeface="Calibri" pitchFamily="34" charset="0"/>
        <a:buChar char="◦"/>
        <a:defRPr sz="2250" kern="1200">
          <a:solidFill>
            <a:schemeClr val="tx1">
              <a:lumMod val="75000"/>
              <a:lumOff val="25000"/>
            </a:schemeClr>
          </a:solidFill>
          <a:latin typeface="+mn-lt"/>
          <a:ea typeface="+mn-ea"/>
          <a:cs typeface="+mn-cs"/>
        </a:defRPr>
      </a:lvl2pPr>
      <a:lvl3pPr marL="708660" indent="-22860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3pPr>
      <a:lvl4pPr marL="937260" indent="-22860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4pPr>
      <a:lvl5pPr marL="1165860" indent="-22860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5pPr>
      <a:lvl6pPr marL="1375000" indent="-28575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6pPr>
      <a:lvl7pPr marL="1625000" indent="-28575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7pPr>
      <a:lvl8pPr marL="1875000" indent="-28575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8pPr>
      <a:lvl9pPr marL="2125000" indent="-285750" algn="l" defTabSz="1143000" rtl="0" eaLnBrk="1" latinLnBrk="0" hangingPunct="1">
        <a:lnSpc>
          <a:spcPct val="90000"/>
        </a:lnSpc>
        <a:spcBef>
          <a:spcPts val="250"/>
        </a:spcBef>
        <a:spcAft>
          <a:spcPts val="500"/>
        </a:spcAft>
        <a:buClr>
          <a:schemeClr val="accent1"/>
        </a:buClr>
        <a:buFont typeface="Calibri" pitchFamily="34" charset="0"/>
        <a:buChar char="◦"/>
        <a:defRPr sz="1750" kern="1200">
          <a:solidFill>
            <a:schemeClr val="tx1">
              <a:lumMod val="75000"/>
              <a:lumOff val="25000"/>
            </a:schemeClr>
          </a:solidFill>
          <a:latin typeface="+mn-lt"/>
          <a:ea typeface="+mn-ea"/>
          <a:cs typeface="+mn-cs"/>
        </a:defRPr>
      </a:lvl9pPr>
    </p:bodyStyle>
    <p:otherStyle>
      <a:defPPr>
        <a:defRPr lang="en-US"/>
      </a:defPPr>
      <a:lvl1pPr marL="0" algn="l" defTabSz="1143000" rtl="0" eaLnBrk="1" latinLnBrk="0" hangingPunct="1">
        <a:defRPr sz="2250" kern="1200">
          <a:solidFill>
            <a:schemeClr val="tx1"/>
          </a:solidFill>
          <a:latin typeface="+mn-lt"/>
          <a:ea typeface="+mn-ea"/>
          <a:cs typeface="+mn-cs"/>
        </a:defRPr>
      </a:lvl1pPr>
      <a:lvl2pPr marL="571500" algn="l" defTabSz="1143000" rtl="0" eaLnBrk="1" latinLnBrk="0" hangingPunct="1">
        <a:defRPr sz="2250" kern="1200">
          <a:solidFill>
            <a:schemeClr val="tx1"/>
          </a:solidFill>
          <a:latin typeface="+mn-lt"/>
          <a:ea typeface="+mn-ea"/>
          <a:cs typeface="+mn-cs"/>
        </a:defRPr>
      </a:lvl2pPr>
      <a:lvl3pPr marL="1143000" algn="l" defTabSz="1143000" rtl="0" eaLnBrk="1" latinLnBrk="0" hangingPunct="1">
        <a:defRPr sz="2250" kern="1200">
          <a:solidFill>
            <a:schemeClr val="tx1"/>
          </a:solidFill>
          <a:latin typeface="+mn-lt"/>
          <a:ea typeface="+mn-ea"/>
          <a:cs typeface="+mn-cs"/>
        </a:defRPr>
      </a:lvl3pPr>
      <a:lvl4pPr marL="1714500" algn="l" defTabSz="1143000" rtl="0" eaLnBrk="1" latinLnBrk="0" hangingPunct="1">
        <a:defRPr sz="2250" kern="1200">
          <a:solidFill>
            <a:schemeClr val="tx1"/>
          </a:solidFill>
          <a:latin typeface="+mn-lt"/>
          <a:ea typeface="+mn-ea"/>
          <a:cs typeface="+mn-cs"/>
        </a:defRPr>
      </a:lvl4pPr>
      <a:lvl5pPr marL="2286000" algn="l" defTabSz="1143000" rtl="0" eaLnBrk="1" latinLnBrk="0" hangingPunct="1">
        <a:defRPr sz="2250" kern="1200">
          <a:solidFill>
            <a:schemeClr val="tx1"/>
          </a:solidFill>
          <a:latin typeface="+mn-lt"/>
          <a:ea typeface="+mn-ea"/>
          <a:cs typeface="+mn-cs"/>
        </a:defRPr>
      </a:lvl5pPr>
      <a:lvl6pPr marL="2857500" algn="l" defTabSz="1143000" rtl="0" eaLnBrk="1" latinLnBrk="0" hangingPunct="1">
        <a:defRPr sz="2250" kern="1200">
          <a:solidFill>
            <a:schemeClr val="tx1"/>
          </a:solidFill>
          <a:latin typeface="+mn-lt"/>
          <a:ea typeface="+mn-ea"/>
          <a:cs typeface="+mn-cs"/>
        </a:defRPr>
      </a:lvl6pPr>
      <a:lvl7pPr marL="3429000" algn="l" defTabSz="1143000" rtl="0" eaLnBrk="1" latinLnBrk="0" hangingPunct="1">
        <a:defRPr sz="2250" kern="1200">
          <a:solidFill>
            <a:schemeClr val="tx1"/>
          </a:solidFill>
          <a:latin typeface="+mn-lt"/>
          <a:ea typeface="+mn-ea"/>
          <a:cs typeface="+mn-cs"/>
        </a:defRPr>
      </a:lvl7pPr>
      <a:lvl8pPr marL="4000500" algn="l" defTabSz="1143000" rtl="0" eaLnBrk="1" latinLnBrk="0" hangingPunct="1">
        <a:defRPr sz="2250" kern="1200">
          <a:solidFill>
            <a:schemeClr val="tx1"/>
          </a:solidFill>
          <a:latin typeface="+mn-lt"/>
          <a:ea typeface="+mn-ea"/>
          <a:cs typeface="+mn-cs"/>
        </a:defRPr>
      </a:lvl8pPr>
      <a:lvl9pPr marL="4572000" algn="l" defTabSz="1143000" rtl="0" eaLnBrk="1" latinLnBrk="0" hangingPunct="1">
        <a:defRPr sz="2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524000" y="2613025"/>
            <a:ext cx="8382000" cy="2037737"/>
          </a:xfrm>
          <a:prstGeom prst="rect">
            <a:avLst/>
          </a:prstGeom>
        </p:spPr>
        <p:txBody>
          <a:bodyPr vert="horz" wrap="square" lIns="0" tIns="6350" rIns="0" bIns="0" rtlCol="0">
            <a:spAutoFit/>
          </a:bodyPr>
          <a:lstStyle/>
          <a:p>
            <a:pPr marL="12700" marR="5080" algn="ctr">
              <a:lnSpc>
                <a:spcPct val="100000"/>
              </a:lnSpc>
              <a:spcBef>
                <a:spcPts val="50"/>
              </a:spcBef>
            </a:pPr>
            <a:r>
              <a:rPr lang="en-US" sz="6600" b="1" spc="0" dirty="0">
                <a:latin typeface="Times New Roman" panose="02020603050405020304" pitchFamily="18" charset="0"/>
                <a:cs typeface="Times New Roman" panose="02020603050405020304" pitchFamily="18" charset="0"/>
              </a:rPr>
              <a:t>Air Pollution Based Street Light Controller</a:t>
            </a:r>
            <a:endParaRPr sz="6600" b="1" spc="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066800" y="5965825"/>
            <a:ext cx="4384675" cy="1603003"/>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Team</a:t>
            </a:r>
            <a:r>
              <a:rPr sz="2000" b="1" spc="25" dirty="0">
                <a:latin typeface="Cambria"/>
                <a:cs typeface="Cambria"/>
              </a:rPr>
              <a:t> </a:t>
            </a:r>
            <a:r>
              <a:rPr sz="2000" b="1" spc="50" dirty="0">
                <a:latin typeface="Cambria"/>
                <a:cs typeface="Cambria"/>
              </a:rPr>
              <a:t>Membe</a:t>
            </a:r>
            <a:r>
              <a:rPr lang="en-US" sz="2000" b="1" spc="50" dirty="0">
                <a:latin typeface="Cambria"/>
                <a:cs typeface="Cambria"/>
              </a:rPr>
              <a:t>r</a:t>
            </a:r>
            <a:r>
              <a:rPr sz="2000" b="1" spc="50" dirty="0">
                <a:latin typeface="Cambria"/>
                <a:cs typeface="Cambria"/>
              </a:rPr>
              <a:t>s:</a:t>
            </a:r>
            <a:r>
              <a:rPr sz="2000" b="1" spc="80" dirty="0">
                <a:latin typeface="Cambria"/>
                <a:cs typeface="Cambria"/>
              </a:rPr>
              <a:t> </a:t>
            </a:r>
            <a:endParaRPr lang="en-US" sz="2000" b="1" spc="80" dirty="0">
              <a:latin typeface="Cambria"/>
              <a:cs typeface="Cambria"/>
            </a:endParaRPr>
          </a:p>
          <a:p>
            <a:pPr marL="12700">
              <a:lnSpc>
                <a:spcPct val="100000"/>
              </a:lnSpc>
              <a:spcBef>
                <a:spcPts val="100"/>
              </a:spcBef>
            </a:pPr>
            <a:r>
              <a:rPr lang="de-DE" sz="2000" dirty="0"/>
              <a:t>124B2E036 Shyam Nahate</a:t>
            </a:r>
          </a:p>
          <a:p>
            <a:pPr marL="12700">
              <a:lnSpc>
                <a:spcPct val="100000"/>
              </a:lnSpc>
              <a:spcBef>
                <a:spcPts val="100"/>
              </a:spcBef>
            </a:pPr>
            <a:r>
              <a:rPr lang="de-DE" sz="2000" dirty="0"/>
              <a:t>124B2E032 Manas Mundada </a:t>
            </a:r>
          </a:p>
          <a:p>
            <a:pPr marL="12700">
              <a:lnSpc>
                <a:spcPct val="100000"/>
              </a:lnSpc>
              <a:spcBef>
                <a:spcPts val="100"/>
              </a:spcBef>
            </a:pPr>
            <a:r>
              <a:rPr lang="de-DE" sz="2000" dirty="0"/>
              <a:t>124B2E031 Abhishek Patil</a:t>
            </a:r>
          </a:p>
          <a:p>
            <a:pPr marL="12700">
              <a:lnSpc>
                <a:spcPct val="100000"/>
              </a:lnSpc>
              <a:spcBef>
                <a:spcPts val="100"/>
              </a:spcBef>
            </a:pPr>
            <a:r>
              <a:rPr lang="de-DE" sz="2000" dirty="0"/>
              <a:t>123B1E169 Kaushik Kakade</a:t>
            </a:r>
            <a:endParaRPr sz="2000" dirty="0">
              <a:latin typeface="SimSun-ExtB"/>
              <a:cs typeface="SimSun-ExtB"/>
            </a:endParaRPr>
          </a:p>
        </p:txBody>
      </p:sp>
      <p:sp>
        <p:nvSpPr>
          <p:cNvPr id="8" name="TextBox 7">
            <a:extLst>
              <a:ext uri="{FF2B5EF4-FFF2-40B4-BE49-F238E27FC236}">
                <a16:creationId xmlns:a16="http://schemas.microsoft.com/office/drawing/2014/main" id="{C46B25CE-D839-3282-77EE-3C3CEB07CDB2}"/>
              </a:ext>
            </a:extLst>
          </p:cNvPr>
          <p:cNvSpPr txBox="1"/>
          <p:nvPr/>
        </p:nvSpPr>
        <p:spPr>
          <a:xfrm>
            <a:off x="5867401" y="5961007"/>
            <a:ext cx="4384676" cy="1546577"/>
          </a:xfrm>
          <a:prstGeom prst="rect">
            <a:avLst/>
          </a:prstGeom>
          <a:noFill/>
        </p:spPr>
        <p:txBody>
          <a:bodyPr wrap="square">
            <a:spAutoFit/>
          </a:bodyPr>
          <a:lstStyle/>
          <a:p>
            <a:pPr marL="12700">
              <a:lnSpc>
                <a:spcPct val="100000"/>
              </a:lnSpc>
              <a:spcBef>
                <a:spcPts val="100"/>
              </a:spcBef>
            </a:pPr>
            <a:r>
              <a:rPr lang="en-IN" sz="2000" b="1" dirty="0">
                <a:latin typeface="Cambria"/>
                <a:cs typeface="Cambria"/>
              </a:rPr>
              <a:t>Guide:</a:t>
            </a:r>
          </a:p>
          <a:p>
            <a:pPr marL="12700">
              <a:lnSpc>
                <a:spcPct val="100000"/>
              </a:lnSpc>
              <a:spcBef>
                <a:spcPts val="100"/>
              </a:spcBef>
            </a:pPr>
            <a:r>
              <a:rPr lang="en-US" sz="2000" dirty="0">
                <a:effectLst/>
                <a:latin typeface="Times New Roman" panose="02020603050405020304" pitchFamily="18" charset="0"/>
                <a:ea typeface="Times New Roman" panose="02020603050405020304" pitchFamily="18" charset="0"/>
              </a:rPr>
              <a:t>Mrs. Sangita Ajit Patil </a:t>
            </a:r>
          </a:p>
          <a:p>
            <a:pPr marL="12700">
              <a:lnSpc>
                <a:spcPct val="100000"/>
              </a:lnSpc>
              <a:spcBef>
                <a:spcPts val="100"/>
              </a:spcBef>
            </a:pPr>
            <a:r>
              <a:rPr lang="en-US" sz="1600" dirty="0">
                <a:effectLst/>
                <a:latin typeface="Times New Roman" panose="02020603050405020304" pitchFamily="18" charset="0"/>
                <a:ea typeface="Times New Roman" panose="02020603050405020304" pitchFamily="18" charset="0"/>
              </a:rPr>
              <a:t>Department of Electronics and </a:t>
            </a:r>
            <a:r>
              <a:rPr lang="en-IN" sz="1600" dirty="0">
                <a:effectLst/>
                <a:latin typeface="Times New Roman" panose="02020603050405020304" pitchFamily="18" charset="0"/>
                <a:ea typeface="SimSun" panose="02010600030101010101" pitchFamily="2" charset="-122"/>
              </a:rPr>
              <a:t>Telecommunication Engineering </a:t>
            </a:r>
          </a:p>
          <a:p>
            <a:pPr marL="12700">
              <a:lnSpc>
                <a:spcPct val="100000"/>
              </a:lnSpc>
              <a:spcBef>
                <a:spcPts val="100"/>
              </a:spcBef>
            </a:pPr>
            <a:endParaRPr lang="en-IN" sz="2000" dirty="0">
              <a:latin typeface="SimSun-ExtB"/>
              <a:cs typeface="SimSun-ExtB"/>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8FF3-FF9C-5919-71E4-AB14DA55A07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Outline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EC56BD-F60C-5663-8F66-6D0421C58805}"/>
              </a:ext>
            </a:extLst>
          </p:cNvPr>
          <p:cNvSpPr>
            <a:spLocks noGrp="1"/>
          </p:cNvSpPr>
          <p:nvPr>
            <p:ph idx="1"/>
          </p:nvPr>
        </p:nvSpPr>
        <p:spPr/>
        <p:txBody>
          <a:bodyPr/>
          <a:lstStyle/>
          <a:p>
            <a:pPr>
              <a:spcBef>
                <a:spcPts val="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Introduction</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Literature Survey</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Gap Identification</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Problem Statement</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Objectives</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Proposed Methodology</a:t>
            </a:r>
            <a:endParaRPr lang="en-US" dirty="0"/>
          </a:p>
          <a:p>
            <a:pPr>
              <a:spcBef>
                <a:spcPts val="1000"/>
              </a:spcBef>
              <a:spcAft>
                <a:spcPts val="0"/>
              </a:spcAft>
              <a:buClr>
                <a:srgbClr val="00B0F0"/>
              </a:buClr>
              <a:buSzPts val="3200"/>
              <a:buFont typeface="Arial" panose="020B0604020202020204" pitchFamily="34" charset="0"/>
              <a:buChar char="•"/>
            </a:pPr>
            <a:r>
              <a:rPr lang="en-US" sz="2800" b="1" dirty="0">
                <a:latin typeface="Times New Roman"/>
                <a:ea typeface="Times New Roman"/>
                <a:cs typeface="Times New Roman"/>
                <a:sym typeface="Times New Roman"/>
              </a:rPr>
              <a:t>Bibliography</a:t>
            </a:r>
            <a:endParaRPr lang="en-US" dirty="0"/>
          </a:p>
          <a:p>
            <a:pPr marL="387350" indent="-285750">
              <a:spcBef>
                <a:spcPts val="1000"/>
              </a:spcBef>
              <a:spcAft>
                <a:spcPts val="0"/>
              </a:spcAft>
              <a:buClr>
                <a:schemeClr val="dk1"/>
              </a:buClr>
              <a:buSzPts val="1600"/>
              <a:buFont typeface="Arial" panose="020B0604020202020204" pitchFamily="34" charset="0"/>
              <a:buChar char="•"/>
            </a:pPr>
            <a:endParaRPr lang="en-US" sz="1400" b="1" dirty="0">
              <a:latin typeface="Times New Roman"/>
              <a:ea typeface="Times New Roman"/>
              <a:cs typeface="Times New Roman"/>
              <a:sym typeface="Times New Roman"/>
            </a:endParaRPr>
          </a:p>
          <a:p>
            <a:pPr>
              <a:buFont typeface="Arial" panose="020B0604020202020204" pitchFamily="34" charset="0"/>
              <a:buChar char="•"/>
            </a:pPr>
            <a:endParaRPr lang="en-IN" dirty="0"/>
          </a:p>
        </p:txBody>
      </p:sp>
    </p:spTree>
    <p:extLst>
      <p:ext uri="{BB962C8B-B14F-4D97-AF65-F5344CB8AC3E}">
        <p14:creationId xmlns:p14="http://schemas.microsoft.com/office/powerpoint/2010/main" val="228281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97073" y="171379"/>
            <a:ext cx="7185025" cy="1235146"/>
          </a:xfrm>
          <a:prstGeom prst="rect">
            <a:avLst/>
          </a:prstGeom>
        </p:spPr>
        <p:txBody>
          <a:bodyPr vert="horz" wrap="square" lIns="0" tIns="15875" rIns="0" bIns="0" rtlCol="0">
            <a:spAutoFit/>
          </a:bodyPr>
          <a:lstStyle/>
          <a:p>
            <a:pPr lvl="0" algn="ctr">
              <a:lnSpc>
                <a:spcPct val="150000"/>
              </a:lnSpc>
              <a:spcBef>
                <a:spcPts val="0"/>
              </a:spcBef>
              <a:buClr>
                <a:srgbClr val="00B0F0"/>
              </a:buClr>
              <a:buSzPts val="3200"/>
            </a:pPr>
            <a:r>
              <a:rPr lang="en-US" b="1" dirty="0">
                <a:solidFill>
                  <a:schemeClr val="dk1"/>
                </a:solidFill>
                <a:latin typeface="Times New Roman"/>
                <a:ea typeface="Times New Roman"/>
                <a:cs typeface="Times New Roman"/>
                <a:sym typeface="Times New Roman"/>
              </a:rPr>
              <a:t>Significance of Study</a:t>
            </a:r>
            <a:endParaRPr lang="en-US" dirty="0">
              <a:solidFill>
                <a:schemeClr val="dk1"/>
              </a:solidFill>
              <a:latin typeface="Times New Roman"/>
              <a:ea typeface="Times New Roman"/>
              <a:cs typeface="Times New Roman"/>
              <a:sym typeface="Times New Roman"/>
            </a:endParaRPr>
          </a:p>
        </p:txBody>
      </p:sp>
      <p:sp>
        <p:nvSpPr>
          <p:cNvPr id="4" name="object 4"/>
          <p:cNvSpPr txBox="1"/>
          <p:nvPr/>
        </p:nvSpPr>
        <p:spPr>
          <a:xfrm>
            <a:off x="587372" y="2384425"/>
            <a:ext cx="10004425" cy="4171014"/>
          </a:xfrm>
          <a:prstGeom prst="rect">
            <a:avLst/>
          </a:prstGeom>
        </p:spPr>
        <p:txBody>
          <a:bodyPr vert="horz" wrap="square" lIns="0" tIns="15875" rIns="0" bIns="0"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Global Problem:</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Urban air pollution is a critical public health and environmental issue, especially in densely populated cities.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Municipal Challenges: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Street lighting is one of the largest contributors to energy costs in urban infrastructure. Static, non-adaptive systems waste electricity and increase operational expenses.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Need:</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Existing solutions either focus only on illumination or only on air quality monitoring. There is a lack of integrated, cost-effective systems that leverage shared infrastructure.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Proposed Impact: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monitoring of pollution levels at street level.</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Adaptive lighting improves safety during poor air quality while saving energy in low-pollution periods.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Low-cost deployment enables scalability across smart cities.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Dual-purpose infrastructure supports sustainability and public health awareness.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7658-A6F5-C98B-4F2E-9AD89845CAEE}"/>
              </a:ext>
            </a:extLst>
          </p:cNvPr>
          <p:cNvSpPr>
            <a:spLocks noGrp="1"/>
          </p:cNvSpPr>
          <p:nvPr>
            <p:ph type="title"/>
          </p:nvPr>
        </p:nvSpPr>
        <p:spPr/>
        <p:txBody>
          <a:bodyPr>
            <a:normAutofit fontScale="90000"/>
          </a:bodyPr>
          <a:lstStyle/>
          <a:p>
            <a:pPr lvl="0">
              <a:lnSpc>
                <a:spcPct val="100000"/>
              </a:lnSpc>
              <a:spcBef>
                <a:spcPts val="0"/>
              </a:spcBef>
            </a:pPr>
            <a:r>
              <a:rPr lang="en-US" b="1" dirty="0">
                <a:solidFill>
                  <a:schemeClr val="dk1"/>
                </a:solidFill>
                <a:latin typeface="Times New Roman"/>
                <a:ea typeface="Times New Roman"/>
                <a:cs typeface="Times New Roman"/>
                <a:sym typeface="Times New Roman"/>
              </a:rPr>
              <a:t>Symptoms with Main Causes of Stress</a:t>
            </a:r>
            <a:endParaRPr lang="en-IN" dirty="0"/>
          </a:p>
        </p:txBody>
      </p:sp>
      <p:sp>
        <p:nvSpPr>
          <p:cNvPr id="3" name="Content Placeholder 2">
            <a:extLst>
              <a:ext uri="{FF2B5EF4-FFF2-40B4-BE49-F238E27FC236}">
                <a16:creationId xmlns:a16="http://schemas.microsoft.com/office/drawing/2014/main" id="{FE37F74D-1F38-F69C-9A86-81D2085BE32E}"/>
              </a:ext>
            </a:extLst>
          </p:cNvPr>
          <p:cNvSpPr>
            <a:spLocks noGrp="1"/>
          </p:cNvSpPr>
          <p:nvPr>
            <p:ph idx="1"/>
          </p:nvPr>
        </p:nvSpPr>
        <p:spPr/>
        <p:txBody>
          <a:bodyPr>
            <a:normAutofit fontScale="92500" lnSpcReduction="20000"/>
          </a:bodyPr>
          <a:lstStyle/>
          <a:p>
            <a:pPr>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Conventional street lighting systems are static, operating at fixed brightness regardless of environmental conditions. Existing pollution monitoring systems are separate and not integrated with public infrastructure.</a:t>
            </a:r>
          </a:p>
          <a:p>
            <a:pPr>
              <a:buNone/>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Symptoms: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Energy Waste:</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Lights remain at full brightness even when pollution levels are low or streets are empty.</a:t>
            </a:r>
          </a:p>
          <a:p>
            <a:pPr>
              <a:buFont typeface="Arial" panose="020B0604020202020204" pitchFamily="34" charset="0"/>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High Costs: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Continuous full-power operation increases municipal electricity bills.</a:t>
            </a:r>
          </a:p>
          <a:p>
            <a:pPr>
              <a:buFont typeface="Arial" panose="020B0604020202020204" pitchFamily="34" charset="0"/>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Lack of Awareness: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Citizens remain unaware of real-time pollution levels in their locality.</a:t>
            </a:r>
          </a:p>
          <a:p>
            <a:pPr>
              <a:buFont typeface="Arial" panose="020B0604020202020204" pitchFamily="34" charset="0"/>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Reduced Safety: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Current systems do not adjust brightness during high pollution, limiting visibility and public safety.</a:t>
            </a:r>
          </a:p>
          <a:p>
            <a:pPr>
              <a:buFont typeface="Arial" panose="020B0604020202020204" pitchFamily="34" charset="0"/>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Environmental Burden:</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Excess energy use indirectly contributes to higher carbon emissions.</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209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3322-54EA-0691-54A8-700E58BD7E05}"/>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Multidimensional Indications to Identify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2D190E-9FDB-44CE-7A8F-F03F11DDB3BA}"/>
              </a:ext>
            </a:extLst>
          </p:cNvPr>
          <p:cNvSpPr>
            <a:spLocks noGrp="1"/>
          </p:cNvSpPr>
          <p:nvPr>
            <p:ph idx="1"/>
          </p:nvPr>
        </p:nvSpPr>
        <p:spPr/>
        <p:txBody>
          <a:bodyPr>
            <a:normAutofit fontScale="77500" lnSpcReduction="20000"/>
          </a:bodyPr>
          <a:lstStyle/>
          <a:p>
            <a:pPr>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The system identifies the need for streetlight intensity adjustment based on air quality indicators, derived from multiple steps:</a:t>
            </a:r>
          </a:p>
          <a:p>
            <a:pPr>
              <a:buFont typeface="+mj-lt"/>
              <a:buAutoNum type="arabicPeriod"/>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Gas Concentration Sensing:</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MQ-135 sensor detects pollutants such as CO₂, CO, NOx, and VOCs.</a:t>
            </a: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The analog resistance change reflects the level of pollutants in the surrounding air.</a:t>
            </a:r>
          </a:p>
          <a:p>
            <a:pPr>
              <a:buFont typeface="+mj-lt"/>
              <a:buAutoNum type="arabicPeriod"/>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Signal Conditioning &amp; Calibration: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Raw sensor output is calibrated against reference AQI data.</a:t>
            </a: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Temperature and humidity compensation ensures higher reliability.</a:t>
            </a:r>
          </a:p>
          <a:p>
            <a:pPr>
              <a:buFont typeface="+mj-lt"/>
              <a:buAutoNum type="arabicPeriod"/>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Data Processing (ESP32):</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ESP32 applies filtering (rolling median / low-pass) to smooth sensor noise.</a:t>
            </a: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Pollution bands are derived (Good, Moderate, Poor) based on threshold values.</a:t>
            </a:r>
          </a:p>
          <a:p>
            <a:pPr>
              <a:buFont typeface="+mj-lt"/>
              <a:buAutoNum type="arabicPeriod"/>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Lighting Control Decision: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Good → 40% brightness (energy saving).</a:t>
            </a: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Moderate → 70% brightness (balance).</a:t>
            </a:r>
          </a:p>
          <a:p>
            <a:pPr marL="742950" lvl="1" indent="-285750">
              <a:buFont typeface="+mj-lt"/>
              <a:buAutoNum type="arabicPeriod"/>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Poor → 100% brightness + alert notification.</a:t>
            </a:r>
          </a:p>
        </p:txBody>
      </p:sp>
    </p:spTree>
    <p:extLst>
      <p:ext uri="{BB962C8B-B14F-4D97-AF65-F5344CB8AC3E}">
        <p14:creationId xmlns:p14="http://schemas.microsoft.com/office/powerpoint/2010/main" val="2133247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33C4-33A0-7528-0E9B-4C62642C9A16}"/>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Methods of Air Quality Detection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67864B-65DC-3542-DFC6-F54B5C9DC394}"/>
              </a:ext>
            </a:extLst>
          </p:cNvPr>
          <p:cNvSpPr>
            <a:spLocks noGrp="1"/>
          </p:cNvSpPr>
          <p:nvPr>
            <p:ph idx="1"/>
          </p:nvPr>
        </p:nvSpPr>
        <p:spPr/>
        <p:txBody>
          <a:bodyPr>
            <a:normAutofit fontScale="62500" lnSpcReduction="20000"/>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Gas Sensor (MQ-135):</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Detects CO₂, CO, NOx, and VOCs.</a:t>
            </a: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Provides </a:t>
            </a:r>
            <a:r>
              <a:rPr lang="en-IN" dirty="0" err="1">
                <a:solidFill>
                  <a:schemeClr val="tx1">
                    <a:lumMod val="95000"/>
                    <a:lumOff val="5000"/>
                  </a:schemeClr>
                </a:solidFill>
                <a:latin typeface="Times New Roman" panose="02020603050405020304" pitchFamily="18" charset="0"/>
                <a:cs typeface="Times New Roman" panose="02020603050405020304" pitchFamily="18" charset="0"/>
              </a:rPr>
              <a:t>analog</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resistance values proportional to pollutant concentration.</a:t>
            </a: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Sensor Calibration:</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Baseline calibration against reference AQI data.</a:t>
            </a: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Linear regression mapping raw values to standardized pollution bands.</a:t>
            </a: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Periodic recalibration to account for sensor drift.</a:t>
            </a: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Compensation Techniques: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Temperature &amp; humidity compensation using auxiliary sensors (e.g., DHT22/BME280).</a:t>
            </a: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Rolling median/low-pass filtering to reduce noise.</a:t>
            </a: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Data Fusion (Optional):</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Integration with PM sensors (e.g., SDS011) for higher accuracy.</a:t>
            </a:r>
          </a:p>
          <a:p>
            <a:pPr lvl="1"/>
            <a:r>
              <a:rPr lang="en-IN" dirty="0">
                <a:solidFill>
                  <a:schemeClr val="tx1">
                    <a:lumMod val="95000"/>
                    <a:lumOff val="5000"/>
                  </a:schemeClr>
                </a:solidFill>
                <a:latin typeface="Times New Roman" panose="02020603050405020304" pitchFamily="18" charset="0"/>
                <a:cs typeface="Times New Roman" panose="02020603050405020304" pitchFamily="18" charset="0"/>
              </a:rPr>
              <a:t>Rule-based logic to minimize false positives.</a:t>
            </a: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Classification into Pollution Bands: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IN" b="1" dirty="0">
                <a:solidFill>
                  <a:schemeClr val="tx1">
                    <a:lumMod val="95000"/>
                    <a:lumOff val="5000"/>
                  </a:schemeClr>
                </a:solidFill>
                <a:latin typeface="Times New Roman" panose="02020603050405020304" pitchFamily="18" charset="0"/>
                <a:cs typeface="Times New Roman" panose="02020603050405020304" pitchFamily="18" charset="0"/>
              </a:rPr>
              <a:t>Good</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 Safe, energy-saving dim mode.</a:t>
            </a:r>
          </a:p>
          <a:p>
            <a:pPr lvl="1"/>
            <a:r>
              <a:rPr lang="en-IN" b="1" dirty="0">
                <a:solidFill>
                  <a:schemeClr val="tx1">
                    <a:lumMod val="95000"/>
                    <a:lumOff val="5000"/>
                  </a:schemeClr>
                </a:solidFill>
                <a:latin typeface="Times New Roman" panose="02020603050405020304" pitchFamily="18" charset="0"/>
                <a:cs typeface="Times New Roman" panose="02020603050405020304" pitchFamily="18" charset="0"/>
              </a:rPr>
              <a:t>Moderate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 Balanced brightness.</a:t>
            </a:r>
          </a:p>
          <a:p>
            <a:pPr lvl="1"/>
            <a:r>
              <a:rPr lang="en-IN" b="1" dirty="0">
                <a:solidFill>
                  <a:schemeClr val="tx1">
                    <a:lumMod val="95000"/>
                    <a:lumOff val="5000"/>
                  </a:schemeClr>
                </a:solidFill>
                <a:latin typeface="Times New Roman" panose="02020603050405020304" pitchFamily="18" charset="0"/>
                <a:cs typeface="Times New Roman" panose="02020603050405020304" pitchFamily="18" charset="0"/>
              </a:rPr>
              <a:t>Poor</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 Full brightness + alert for safety.</a:t>
            </a:r>
          </a:p>
        </p:txBody>
      </p:sp>
    </p:spTree>
    <p:extLst>
      <p:ext uri="{BB962C8B-B14F-4D97-AF65-F5344CB8AC3E}">
        <p14:creationId xmlns:p14="http://schemas.microsoft.com/office/powerpoint/2010/main" val="285957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2BB2-116C-90EA-02FC-E953CA2A205F}"/>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paper 1</a:t>
            </a:r>
            <a:endParaRPr lang="en-IN" dirty="0">
              <a:solidFill>
                <a:schemeClr val="tx1">
                  <a:lumMod val="85000"/>
                  <a:lumOff val="15000"/>
                </a:schemeClr>
              </a:solidFill>
            </a:endParaRPr>
          </a:p>
        </p:txBody>
      </p:sp>
      <p:graphicFrame>
        <p:nvGraphicFramePr>
          <p:cNvPr id="5" name="Content Placeholder 4">
            <a:extLst>
              <a:ext uri="{FF2B5EF4-FFF2-40B4-BE49-F238E27FC236}">
                <a16:creationId xmlns:a16="http://schemas.microsoft.com/office/drawing/2014/main" id="{D912236B-7089-CBF9-EDD9-AF2F8BB00A80}"/>
              </a:ext>
            </a:extLst>
          </p:cNvPr>
          <p:cNvGraphicFramePr>
            <a:graphicFrameLocks noGrp="1"/>
          </p:cNvGraphicFramePr>
          <p:nvPr>
            <p:ph idx="1"/>
            <p:extLst>
              <p:ext uri="{D42A27DB-BD31-4B8C-83A1-F6EECF244321}">
                <p14:modId xmlns:p14="http://schemas.microsoft.com/office/powerpoint/2010/main" val="3968782352"/>
              </p:ext>
            </p:extLst>
          </p:nvPr>
        </p:nvGraphicFramePr>
        <p:xfrm>
          <a:off x="1143000" y="2384425"/>
          <a:ext cx="9315451" cy="4724400"/>
        </p:xfrm>
        <a:graphic>
          <a:graphicData uri="http://schemas.openxmlformats.org/drawingml/2006/table">
            <a:tbl>
              <a:tblPr bandRow="1">
                <a:tableStyleId>{5C22544A-7EE6-4342-B048-85BDC9FD1C3A}</a:tableStyleId>
              </a:tblPr>
              <a:tblGrid>
                <a:gridCol w="565626">
                  <a:extLst>
                    <a:ext uri="{9D8B030D-6E8A-4147-A177-3AD203B41FA5}">
                      <a16:colId xmlns:a16="http://schemas.microsoft.com/office/drawing/2014/main" val="734317017"/>
                    </a:ext>
                  </a:extLst>
                </a:gridCol>
                <a:gridCol w="1572429">
                  <a:extLst>
                    <a:ext uri="{9D8B030D-6E8A-4147-A177-3AD203B41FA5}">
                      <a16:colId xmlns:a16="http://schemas.microsoft.com/office/drawing/2014/main" val="3894472810"/>
                    </a:ext>
                  </a:extLst>
                </a:gridCol>
                <a:gridCol w="1138545">
                  <a:extLst>
                    <a:ext uri="{9D8B030D-6E8A-4147-A177-3AD203B41FA5}">
                      <a16:colId xmlns:a16="http://schemas.microsoft.com/office/drawing/2014/main" val="128163870"/>
                    </a:ext>
                  </a:extLst>
                </a:gridCol>
                <a:gridCol w="1125031">
                  <a:extLst>
                    <a:ext uri="{9D8B030D-6E8A-4147-A177-3AD203B41FA5}">
                      <a16:colId xmlns:a16="http://schemas.microsoft.com/office/drawing/2014/main" val="495921714"/>
                    </a:ext>
                  </a:extLst>
                </a:gridCol>
                <a:gridCol w="2488501">
                  <a:extLst>
                    <a:ext uri="{9D8B030D-6E8A-4147-A177-3AD203B41FA5}">
                      <a16:colId xmlns:a16="http://schemas.microsoft.com/office/drawing/2014/main" val="1402843456"/>
                    </a:ext>
                  </a:extLst>
                </a:gridCol>
                <a:gridCol w="2425319">
                  <a:extLst>
                    <a:ext uri="{9D8B030D-6E8A-4147-A177-3AD203B41FA5}">
                      <a16:colId xmlns:a16="http://schemas.microsoft.com/office/drawing/2014/main" val="1304472052"/>
                    </a:ext>
                  </a:extLst>
                </a:gridCol>
              </a:tblGrid>
              <a:tr h="1003785">
                <a:tc>
                  <a:txBody>
                    <a:bodyPr/>
                    <a:lstStyle/>
                    <a:p>
                      <a:pPr>
                        <a:lnSpc>
                          <a:spcPct val="107000"/>
                        </a:lnSpc>
                        <a:spcAft>
                          <a:spcPts val="800"/>
                        </a:spcAft>
                        <a:buNone/>
                      </a:pPr>
                      <a:r>
                        <a:rPr lang="en-IN" sz="1600">
                          <a:effectLst/>
                        </a:rPr>
                        <a:t>Sr. no.</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Title</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Year of Publication</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Publisher</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Methodology</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Conclusion</a:t>
                      </a:r>
                      <a:endParaRPr lang="en-IN" sz="16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145031879"/>
                  </a:ext>
                </a:extLst>
              </a:tr>
              <a:tr h="3720615">
                <a:tc>
                  <a:txBody>
                    <a:bodyPr/>
                    <a:lstStyle/>
                    <a:p>
                      <a:pPr>
                        <a:lnSpc>
                          <a:spcPct val="107000"/>
                        </a:lnSpc>
                        <a:spcAft>
                          <a:spcPts val="800"/>
                        </a:spcAft>
                        <a:buNone/>
                      </a:pPr>
                      <a:r>
                        <a:rPr lang="en-IN" sz="1600">
                          <a:effectLst/>
                        </a:rPr>
                        <a:t>01</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Smart Street Light Control: A Review on Methods, Innovations, and Extended Applications</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2023</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MDPI (Energies journal)</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Comprehensive literature review analyzing various smart street lighting control methods from static to AI-based approaches, introducing a novel light scheme framework for classification.</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Smart street lighting systems can achieve 30-90% energy savings depending on control methods employed, with AI and computer vision techniques showing the most promise for future sustainable urban lighting solutions.</a:t>
                      </a:r>
                      <a:endParaRPr lang="en-IN"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616971804"/>
                  </a:ext>
                </a:extLst>
              </a:tr>
            </a:tbl>
          </a:graphicData>
        </a:graphic>
      </p:graphicFrame>
    </p:spTree>
    <p:extLst>
      <p:ext uri="{BB962C8B-B14F-4D97-AF65-F5344CB8AC3E}">
        <p14:creationId xmlns:p14="http://schemas.microsoft.com/office/powerpoint/2010/main" val="1889559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4542F-DAE5-1325-3C23-754BC0B10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057DB-D774-34BB-519C-AD5F53614C2D}"/>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paper 2</a:t>
            </a:r>
            <a:endParaRPr lang="en-IN" dirty="0">
              <a:solidFill>
                <a:schemeClr val="tx1">
                  <a:lumMod val="85000"/>
                  <a:lumOff val="15000"/>
                </a:schemeClr>
              </a:solidFill>
            </a:endParaRPr>
          </a:p>
        </p:txBody>
      </p:sp>
      <p:graphicFrame>
        <p:nvGraphicFramePr>
          <p:cNvPr id="4" name="Content Placeholder 3">
            <a:extLst>
              <a:ext uri="{FF2B5EF4-FFF2-40B4-BE49-F238E27FC236}">
                <a16:creationId xmlns:a16="http://schemas.microsoft.com/office/drawing/2014/main" id="{8EC16BE2-4890-56EE-B577-9357E3C90558}"/>
              </a:ext>
            </a:extLst>
          </p:cNvPr>
          <p:cNvGraphicFramePr>
            <a:graphicFrameLocks noGrp="1"/>
          </p:cNvGraphicFramePr>
          <p:nvPr>
            <p:ph idx="1"/>
            <p:extLst>
              <p:ext uri="{D42A27DB-BD31-4B8C-83A1-F6EECF244321}">
                <p14:modId xmlns:p14="http://schemas.microsoft.com/office/powerpoint/2010/main" val="1397108333"/>
              </p:ext>
            </p:extLst>
          </p:nvPr>
        </p:nvGraphicFramePr>
        <p:xfrm>
          <a:off x="1142999" y="2308225"/>
          <a:ext cx="9315451" cy="4724400"/>
        </p:xfrm>
        <a:graphic>
          <a:graphicData uri="http://schemas.openxmlformats.org/drawingml/2006/table">
            <a:tbl>
              <a:tblPr bandRow="1">
                <a:tableStyleId>{5C22544A-7EE6-4342-B048-85BDC9FD1C3A}</a:tableStyleId>
              </a:tblPr>
              <a:tblGrid>
                <a:gridCol w="565626">
                  <a:extLst>
                    <a:ext uri="{9D8B030D-6E8A-4147-A177-3AD203B41FA5}">
                      <a16:colId xmlns:a16="http://schemas.microsoft.com/office/drawing/2014/main" val="791706303"/>
                    </a:ext>
                  </a:extLst>
                </a:gridCol>
                <a:gridCol w="1572429">
                  <a:extLst>
                    <a:ext uri="{9D8B030D-6E8A-4147-A177-3AD203B41FA5}">
                      <a16:colId xmlns:a16="http://schemas.microsoft.com/office/drawing/2014/main" val="4070562374"/>
                    </a:ext>
                  </a:extLst>
                </a:gridCol>
                <a:gridCol w="1138545">
                  <a:extLst>
                    <a:ext uri="{9D8B030D-6E8A-4147-A177-3AD203B41FA5}">
                      <a16:colId xmlns:a16="http://schemas.microsoft.com/office/drawing/2014/main" val="408901802"/>
                    </a:ext>
                  </a:extLst>
                </a:gridCol>
                <a:gridCol w="1125031">
                  <a:extLst>
                    <a:ext uri="{9D8B030D-6E8A-4147-A177-3AD203B41FA5}">
                      <a16:colId xmlns:a16="http://schemas.microsoft.com/office/drawing/2014/main" val="3779663477"/>
                    </a:ext>
                  </a:extLst>
                </a:gridCol>
                <a:gridCol w="2488501">
                  <a:extLst>
                    <a:ext uri="{9D8B030D-6E8A-4147-A177-3AD203B41FA5}">
                      <a16:colId xmlns:a16="http://schemas.microsoft.com/office/drawing/2014/main" val="854908882"/>
                    </a:ext>
                  </a:extLst>
                </a:gridCol>
                <a:gridCol w="2425319">
                  <a:extLst>
                    <a:ext uri="{9D8B030D-6E8A-4147-A177-3AD203B41FA5}">
                      <a16:colId xmlns:a16="http://schemas.microsoft.com/office/drawing/2014/main" val="821696412"/>
                    </a:ext>
                  </a:extLst>
                </a:gridCol>
              </a:tblGrid>
              <a:tr h="932226">
                <a:tc>
                  <a:txBody>
                    <a:bodyPr/>
                    <a:lstStyle/>
                    <a:p>
                      <a:pPr>
                        <a:lnSpc>
                          <a:spcPct val="107000"/>
                        </a:lnSpc>
                        <a:spcAft>
                          <a:spcPts val="800"/>
                        </a:spcAft>
                        <a:buNone/>
                      </a:pPr>
                      <a:r>
                        <a:rPr lang="en-IN" sz="1600">
                          <a:effectLst/>
                        </a:rPr>
                        <a:t>Sr. no.</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Title</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Year of Publication</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Publisher</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Methodology</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Conclusion</a:t>
                      </a:r>
                      <a:endParaRPr lang="en-IN" sz="16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52362598"/>
                  </a:ext>
                </a:extLst>
              </a:tr>
              <a:tr h="3792174">
                <a:tc>
                  <a:txBody>
                    <a:bodyPr/>
                    <a:lstStyle/>
                    <a:p>
                      <a:pPr>
                        <a:lnSpc>
                          <a:spcPct val="107000"/>
                        </a:lnSpc>
                        <a:spcAft>
                          <a:spcPts val="800"/>
                        </a:spcAft>
                        <a:buNone/>
                      </a:pPr>
                      <a:r>
                        <a:rPr lang="en-IN" sz="1600" dirty="0">
                          <a:effectLst/>
                          <a:latin typeface="Calibri" panose="020F0502020204030204" pitchFamily="34" charset="0"/>
                          <a:ea typeface="Calibri" panose="020F0502020204030204" pitchFamily="34" charset="0"/>
                        </a:rPr>
                        <a:t>02</a:t>
                      </a:r>
                    </a:p>
                  </a:txBody>
                  <a:tcPr marL="68580" marR="68580" marT="0" marB="0"/>
                </a:tc>
                <a:tc>
                  <a:txBody>
                    <a:bodyPr/>
                    <a:lstStyle/>
                    <a:p>
                      <a:pPr>
                        <a:lnSpc>
                          <a:spcPct val="107000"/>
                        </a:lnSpc>
                        <a:spcAft>
                          <a:spcPts val="800"/>
                        </a:spcAft>
                        <a:buNone/>
                      </a:pPr>
                      <a:r>
                        <a:rPr lang="en-IN" sz="1600" dirty="0">
                          <a:effectLst/>
                          <a:latin typeface="Calibri" panose="020F0502020204030204" pitchFamily="34" charset="0"/>
                          <a:ea typeface="Calibri" panose="020F0502020204030204" pitchFamily="34" charset="0"/>
                        </a:rPr>
                        <a:t>Self-Activating Street Lights Using Sensors and Arduino</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2021</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IEEE</a:t>
                      </a:r>
                    </a:p>
                    <a:p>
                      <a:pPr algn="ctr">
                        <a:lnSpc>
                          <a:spcPct val="107000"/>
                        </a:lnSpc>
                        <a:spcAft>
                          <a:spcPts val="800"/>
                        </a:spcAft>
                        <a:buNone/>
                      </a:pPr>
                      <a:r>
                        <a:rPr lang="en-IN" sz="1600">
                          <a:effectLst/>
                          <a:latin typeface="Calibri" panose="020F0502020204030204" pitchFamily="34" charset="0"/>
                          <a:ea typeface="Calibri" panose="020F0502020204030204" pitchFamily="34" charset="0"/>
                        </a:rPr>
                        <a:t> </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Created an automatic street lighting system using Arduino UNO with LDR and ultrasonic sensors to control LED brightness based on ambient light and motion detection.</a:t>
                      </a:r>
                    </a:p>
                  </a:txBody>
                  <a:tcPr marL="68580" marR="68580" marT="0" marB="0"/>
                </a:tc>
                <a:tc>
                  <a:txBody>
                    <a:bodyPr/>
                    <a:lstStyle/>
                    <a:p>
                      <a:pPr>
                        <a:lnSpc>
                          <a:spcPct val="107000"/>
                        </a:lnSpc>
                        <a:spcAft>
                          <a:spcPts val="800"/>
                        </a:spcAft>
                        <a:buNone/>
                      </a:pPr>
                      <a:r>
                        <a:rPr lang="en-IN" sz="1600" dirty="0">
                          <a:effectLst/>
                          <a:latin typeface="Calibri" panose="020F0502020204030204" pitchFamily="34" charset="0"/>
                          <a:ea typeface="Calibri" panose="020F0502020204030204" pitchFamily="34" charset="0"/>
                        </a:rPr>
                        <a:t>The system achieves 32-45% energy savings through automatic brightness adjustment based on real-time environmental conditions, providing cost-effective smart lighting solution.</a:t>
                      </a:r>
                    </a:p>
                  </a:txBody>
                  <a:tcPr marL="68580" marR="68580" marT="0" marB="0"/>
                </a:tc>
                <a:extLst>
                  <a:ext uri="{0D108BD9-81ED-4DB2-BD59-A6C34878D82A}">
                    <a16:rowId xmlns:a16="http://schemas.microsoft.com/office/drawing/2014/main" val="892857095"/>
                  </a:ext>
                </a:extLst>
              </a:tr>
            </a:tbl>
          </a:graphicData>
        </a:graphic>
      </p:graphicFrame>
    </p:spTree>
    <p:extLst>
      <p:ext uri="{BB962C8B-B14F-4D97-AF65-F5344CB8AC3E}">
        <p14:creationId xmlns:p14="http://schemas.microsoft.com/office/powerpoint/2010/main" val="2633606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6A0B1-2271-F732-354B-3AC05D24C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9CFB3-2329-7558-9E45-6CC3159DD0FD}"/>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paper 3</a:t>
            </a:r>
            <a:endParaRPr lang="en-IN" dirty="0">
              <a:solidFill>
                <a:schemeClr val="tx1">
                  <a:lumMod val="85000"/>
                  <a:lumOff val="15000"/>
                </a:schemeClr>
              </a:solidFill>
            </a:endParaRPr>
          </a:p>
        </p:txBody>
      </p:sp>
      <p:graphicFrame>
        <p:nvGraphicFramePr>
          <p:cNvPr id="5" name="Content Placeholder 4">
            <a:extLst>
              <a:ext uri="{FF2B5EF4-FFF2-40B4-BE49-F238E27FC236}">
                <a16:creationId xmlns:a16="http://schemas.microsoft.com/office/drawing/2014/main" id="{EC0F3F14-E9BE-016F-39DE-CD733E882482}"/>
              </a:ext>
            </a:extLst>
          </p:cNvPr>
          <p:cNvGraphicFramePr>
            <a:graphicFrameLocks noGrp="1"/>
          </p:cNvGraphicFramePr>
          <p:nvPr>
            <p:ph idx="1"/>
            <p:extLst>
              <p:ext uri="{D42A27DB-BD31-4B8C-83A1-F6EECF244321}">
                <p14:modId xmlns:p14="http://schemas.microsoft.com/office/powerpoint/2010/main" val="4253442166"/>
              </p:ext>
            </p:extLst>
          </p:nvPr>
        </p:nvGraphicFramePr>
        <p:xfrm>
          <a:off x="1028700" y="2308225"/>
          <a:ext cx="9315451" cy="4724400"/>
        </p:xfrm>
        <a:graphic>
          <a:graphicData uri="http://schemas.openxmlformats.org/drawingml/2006/table">
            <a:tbl>
              <a:tblPr bandRow="1">
                <a:tableStyleId>{5C22544A-7EE6-4342-B048-85BDC9FD1C3A}</a:tableStyleId>
              </a:tblPr>
              <a:tblGrid>
                <a:gridCol w="565626">
                  <a:extLst>
                    <a:ext uri="{9D8B030D-6E8A-4147-A177-3AD203B41FA5}">
                      <a16:colId xmlns:a16="http://schemas.microsoft.com/office/drawing/2014/main" val="889231100"/>
                    </a:ext>
                  </a:extLst>
                </a:gridCol>
                <a:gridCol w="1572429">
                  <a:extLst>
                    <a:ext uri="{9D8B030D-6E8A-4147-A177-3AD203B41FA5}">
                      <a16:colId xmlns:a16="http://schemas.microsoft.com/office/drawing/2014/main" val="2213410145"/>
                    </a:ext>
                  </a:extLst>
                </a:gridCol>
                <a:gridCol w="1138545">
                  <a:extLst>
                    <a:ext uri="{9D8B030D-6E8A-4147-A177-3AD203B41FA5}">
                      <a16:colId xmlns:a16="http://schemas.microsoft.com/office/drawing/2014/main" val="1947899966"/>
                    </a:ext>
                  </a:extLst>
                </a:gridCol>
                <a:gridCol w="1125031">
                  <a:extLst>
                    <a:ext uri="{9D8B030D-6E8A-4147-A177-3AD203B41FA5}">
                      <a16:colId xmlns:a16="http://schemas.microsoft.com/office/drawing/2014/main" val="1889221216"/>
                    </a:ext>
                  </a:extLst>
                </a:gridCol>
                <a:gridCol w="2488501">
                  <a:extLst>
                    <a:ext uri="{9D8B030D-6E8A-4147-A177-3AD203B41FA5}">
                      <a16:colId xmlns:a16="http://schemas.microsoft.com/office/drawing/2014/main" val="1705184533"/>
                    </a:ext>
                  </a:extLst>
                </a:gridCol>
                <a:gridCol w="2425319">
                  <a:extLst>
                    <a:ext uri="{9D8B030D-6E8A-4147-A177-3AD203B41FA5}">
                      <a16:colId xmlns:a16="http://schemas.microsoft.com/office/drawing/2014/main" val="3906839393"/>
                    </a:ext>
                  </a:extLst>
                </a:gridCol>
              </a:tblGrid>
              <a:tr h="1003785">
                <a:tc>
                  <a:txBody>
                    <a:bodyPr/>
                    <a:lstStyle/>
                    <a:p>
                      <a:pPr>
                        <a:lnSpc>
                          <a:spcPct val="107000"/>
                        </a:lnSpc>
                        <a:spcAft>
                          <a:spcPts val="800"/>
                        </a:spcAft>
                        <a:buNone/>
                      </a:pPr>
                      <a:r>
                        <a:rPr lang="en-IN" sz="1600" dirty="0">
                          <a:effectLst/>
                        </a:rPr>
                        <a:t>Sr. no.</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Title</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Year of Publication</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Publisher</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Methodology</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Conclusion</a:t>
                      </a:r>
                      <a:endParaRPr lang="en-IN" sz="16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969912684"/>
                  </a:ext>
                </a:extLst>
              </a:tr>
              <a:tr h="3720615">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03</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Orchestrating a Sustainable, Energy-Efficient LoRa-Connected Lighting System for Next-Generation Smart Cities</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2023</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IEEE</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Developed a LoRa-based smart street lighting system with STM32 controllers, featuring street light monitoring nodes and routing nodes for long-range wireless communication and real-time control.</a:t>
                      </a:r>
                    </a:p>
                  </a:txBody>
                  <a:tcPr marL="68580" marR="68580" marT="0" marB="0"/>
                </a:tc>
                <a:tc>
                  <a:txBody>
                    <a:bodyPr/>
                    <a:lstStyle/>
                    <a:p>
                      <a:pPr>
                        <a:lnSpc>
                          <a:spcPct val="107000"/>
                        </a:lnSpc>
                        <a:spcAft>
                          <a:spcPts val="800"/>
                        </a:spcAft>
                        <a:buNone/>
                      </a:pPr>
                      <a:r>
                        <a:rPr lang="en-IN" sz="1600" dirty="0">
                          <a:effectLst/>
                          <a:latin typeface="Calibri" panose="020F0502020204030204" pitchFamily="34" charset="0"/>
                          <a:ea typeface="Calibri" panose="020F0502020204030204" pitchFamily="34" charset="0"/>
                        </a:rPr>
                        <a:t>The LoRa-based system demonstrates significant energy savings with reliable long-range communication capabilities, providing a scalable solution for smart city lighting infrastructure.</a:t>
                      </a:r>
                    </a:p>
                  </a:txBody>
                  <a:tcPr marL="68580" marR="68580" marT="0" marB="0"/>
                </a:tc>
                <a:extLst>
                  <a:ext uri="{0D108BD9-81ED-4DB2-BD59-A6C34878D82A}">
                    <a16:rowId xmlns:a16="http://schemas.microsoft.com/office/drawing/2014/main" val="3401429433"/>
                  </a:ext>
                </a:extLst>
              </a:tr>
            </a:tbl>
          </a:graphicData>
        </a:graphic>
      </p:graphicFrame>
    </p:spTree>
    <p:extLst>
      <p:ext uri="{BB962C8B-B14F-4D97-AF65-F5344CB8AC3E}">
        <p14:creationId xmlns:p14="http://schemas.microsoft.com/office/powerpoint/2010/main" val="233972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7AD5B-8712-CACC-80CE-74495EDC5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3B537-E0FB-7D7A-2C67-DCC4943C3C84}"/>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paper 4</a:t>
            </a:r>
            <a:endParaRPr lang="en-IN" dirty="0">
              <a:solidFill>
                <a:schemeClr val="tx1">
                  <a:lumMod val="85000"/>
                  <a:lumOff val="15000"/>
                </a:schemeClr>
              </a:solidFill>
            </a:endParaRPr>
          </a:p>
        </p:txBody>
      </p:sp>
      <p:graphicFrame>
        <p:nvGraphicFramePr>
          <p:cNvPr id="4" name="Content Placeholder 3">
            <a:extLst>
              <a:ext uri="{FF2B5EF4-FFF2-40B4-BE49-F238E27FC236}">
                <a16:creationId xmlns:a16="http://schemas.microsoft.com/office/drawing/2014/main" id="{DF5521BF-4285-642B-C6CA-186D5A08DC7C}"/>
              </a:ext>
            </a:extLst>
          </p:cNvPr>
          <p:cNvGraphicFramePr>
            <a:graphicFrameLocks noGrp="1"/>
          </p:cNvGraphicFramePr>
          <p:nvPr>
            <p:ph idx="1"/>
            <p:extLst>
              <p:ext uri="{D42A27DB-BD31-4B8C-83A1-F6EECF244321}">
                <p14:modId xmlns:p14="http://schemas.microsoft.com/office/powerpoint/2010/main" val="2985552669"/>
              </p:ext>
            </p:extLst>
          </p:nvPr>
        </p:nvGraphicFramePr>
        <p:xfrm>
          <a:off x="1028700" y="2308225"/>
          <a:ext cx="9315451" cy="4724400"/>
        </p:xfrm>
        <a:graphic>
          <a:graphicData uri="http://schemas.openxmlformats.org/drawingml/2006/table">
            <a:tbl>
              <a:tblPr bandRow="1">
                <a:tableStyleId>{5C22544A-7EE6-4342-B048-85BDC9FD1C3A}</a:tableStyleId>
              </a:tblPr>
              <a:tblGrid>
                <a:gridCol w="565626">
                  <a:extLst>
                    <a:ext uri="{9D8B030D-6E8A-4147-A177-3AD203B41FA5}">
                      <a16:colId xmlns:a16="http://schemas.microsoft.com/office/drawing/2014/main" val="785247295"/>
                    </a:ext>
                  </a:extLst>
                </a:gridCol>
                <a:gridCol w="1572429">
                  <a:extLst>
                    <a:ext uri="{9D8B030D-6E8A-4147-A177-3AD203B41FA5}">
                      <a16:colId xmlns:a16="http://schemas.microsoft.com/office/drawing/2014/main" val="3367009217"/>
                    </a:ext>
                  </a:extLst>
                </a:gridCol>
                <a:gridCol w="1138545">
                  <a:extLst>
                    <a:ext uri="{9D8B030D-6E8A-4147-A177-3AD203B41FA5}">
                      <a16:colId xmlns:a16="http://schemas.microsoft.com/office/drawing/2014/main" val="1508273359"/>
                    </a:ext>
                  </a:extLst>
                </a:gridCol>
                <a:gridCol w="1125031">
                  <a:extLst>
                    <a:ext uri="{9D8B030D-6E8A-4147-A177-3AD203B41FA5}">
                      <a16:colId xmlns:a16="http://schemas.microsoft.com/office/drawing/2014/main" val="3010781731"/>
                    </a:ext>
                  </a:extLst>
                </a:gridCol>
                <a:gridCol w="2488501">
                  <a:extLst>
                    <a:ext uri="{9D8B030D-6E8A-4147-A177-3AD203B41FA5}">
                      <a16:colId xmlns:a16="http://schemas.microsoft.com/office/drawing/2014/main" val="546010931"/>
                    </a:ext>
                  </a:extLst>
                </a:gridCol>
                <a:gridCol w="2425319">
                  <a:extLst>
                    <a:ext uri="{9D8B030D-6E8A-4147-A177-3AD203B41FA5}">
                      <a16:colId xmlns:a16="http://schemas.microsoft.com/office/drawing/2014/main" val="974584709"/>
                    </a:ext>
                  </a:extLst>
                </a:gridCol>
              </a:tblGrid>
              <a:tr h="1003785">
                <a:tc>
                  <a:txBody>
                    <a:bodyPr/>
                    <a:lstStyle/>
                    <a:p>
                      <a:pPr>
                        <a:lnSpc>
                          <a:spcPct val="107000"/>
                        </a:lnSpc>
                        <a:spcAft>
                          <a:spcPts val="800"/>
                        </a:spcAft>
                        <a:buNone/>
                      </a:pPr>
                      <a:r>
                        <a:rPr lang="en-IN" sz="1600" dirty="0">
                          <a:effectLst/>
                        </a:rPr>
                        <a:t>Sr. no.</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Title</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Year of Publication</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dirty="0">
                          <a:effectLst/>
                        </a:rPr>
                        <a:t>Publisher</a:t>
                      </a:r>
                      <a:endParaRPr lang="en-IN" sz="16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Methodology</a:t>
                      </a:r>
                      <a:endParaRPr lang="en-IN" sz="16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buNone/>
                      </a:pPr>
                      <a:r>
                        <a:rPr lang="en-IN" sz="1600">
                          <a:effectLst/>
                        </a:rPr>
                        <a:t>Conclusion</a:t>
                      </a:r>
                      <a:endParaRPr lang="en-IN" sz="16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592849202"/>
                  </a:ext>
                </a:extLst>
              </a:tr>
              <a:tr h="3720615">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04</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Master Street Light System Integrating Automation and Air Pollution Monitoring for Urban Sustainability</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2024</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IEEE</a:t>
                      </a:r>
                    </a:p>
                  </a:txBody>
                  <a:tcPr marL="68580" marR="68580" marT="0" marB="0"/>
                </a:tc>
                <a:tc>
                  <a:txBody>
                    <a:bodyPr/>
                    <a:lstStyle/>
                    <a:p>
                      <a:pPr>
                        <a:lnSpc>
                          <a:spcPct val="107000"/>
                        </a:lnSpc>
                        <a:spcAft>
                          <a:spcPts val="800"/>
                        </a:spcAft>
                        <a:buNone/>
                      </a:pPr>
                      <a:r>
                        <a:rPr lang="en-IN" sz="1600">
                          <a:effectLst/>
                          <a:latin typeface="Calibri" panose="020F0502020204030204" pitchFamily="34" charset="0"/>
                          <a:ea typeface="Calibri" panose="020F0502020204030204" pitchFamily="34" charset="0"/>
                        </a:rPr>
                        <a:t>Proposed a hierarchical master-student street lighting system where master lights equipped with sensors control adjacent lights, integrated with air pollution monitoring capabilities.</a:t>
                      </a:r>
                    </a:p>
                  </a:txBody>
                  <a:tcPr marL="68580" marR="68580" marT="0" marB="0"/>
                </a:tc>
                <a:tc>
                  <a:txBody>
                    <a:bodyPr/>
                    <a:lstStyle/>
                    <a:p>
                      <a:pPr>
                        <a:lnSpc>
                          <a:spcPct val="107000"/>
                        </a:lnSpc>
                        <a:spcAft>
                          <a:spcPts val="800"/>
                        </a:spcAft>
                        <a:buNone/>
                      </a:pPr>
                      <a:r>
                        <a:rPr lang="en-IN" sz="1600" dirty="0">
                          <a:effectLst/>
                          <a:latin typeface="Calibri" panose="020F0502020204030204" pitchFamily="34" charset="0"/>
                          <a:ea typeface="Calibri" panose="020F0502020204030204" pitchFamily="34" charset="0"/>
                        </a:rPr>
                        <a:t>The master-student architecture significantly reduces installation costs while providing comprehensive environmental monitoring, offering a holistic solution for sustainable urban lighting.</a:t>
                      </a:r>
                    </a:p>
                  </a:txBody>
                  <a:tcPr marL="68580" marR="68580" marT="0" marB="0"/>
                </a:tc>
                <a:extLst>
                  <a:ext uri="{0D108BD9-81ED-4DB2-BD59-A6C34878D82A}">
                    <a16:rowId xmlns:a16="http://schemas.microsoft.com/office/drawing/2014/main" val="2170141686"/>
                  </a:ext>
                </a:extLst>
              </a:tr>
            </a:tbl>
          </a:graphicData>
        </a:graphic>
      </p:graphicFrame>
    </p:spTree>
    <p:extLst>
      <p:ext uri="{BB962C8B-B14F-4D97-AF65-F5344CB8AC3E}">
        <p14:creationId xmlns:p14="http://schemas.microsoft.com/office/powerpoint/2010/main" val="220869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F1252-F910-0C00-5CDC-5E233D99E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47B3D-493D-CF42-3D64-4A0FF4FF4467}"/>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Findings(1&amp;2)</a:t>
            </a:r>
            <a:endParaRPr lang="en-IN"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31A288E0-5E7C-F8F2-F8C8-640C6B4CA252}"/>
              </a:ext>
            </a:extLst>
          </p:cNvPr>
          <p:cNvSpPr>
            <a:spLocks noGrp="1"/>
          </p:cNvSpPr>
          <p:nvPr>
            <p:ph idx="1"/>
          </p:nvPr>
        </p:nvSpPr>
        <p:spPr/>
        <p:txBody>
          <a:bodyPr>
            <a:noAutofit/>
          </a:bodyPr>
          <a:lstStyle/>
          <a:p>
            <a:pPr marL="342900" indent="-342900">
              <a:buAutoNum type="arabicParen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Smart Street Light Control: A Review on Methods, Innovations, and Extended Applications (Energies / MDPI, 2023).</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16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This review surveys sensor- and communication-driven control strategies for street lighting and finds that the field has moved from simple threshold-based ON/OFF and twilight switches toward multi-layered systems combining adaptive dimming, occupancy detection, and data-driven control. The authors catalog hardware approaches (LDRs, PIR, ultrasonic, cameras, LiDAR), communication technologies (PLC, Zigbee, LoRa, NB-IoT, cellular) and software advances (edge analytics and ML for anomaly detection and predictive dimming). Important innovations identified include smart poles that integrate environmental sensors (air quality, noise), energy harvesting and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solar+storage</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integrations, and convergence with other city services (traffic sensing, EV charging). The review highlights measured benefits (notably energy and maintenance savings) but stresses challenges: interoperability, cyber-security, standards gaps, and the need for field validation under diverse urban conditions. </a:t>
            </a:r>
          </a:p>
          <a:p>
            <a:pPr marL="342900" indent="-342900">
              <a:buAutoNum type="arabicParen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Self-Activating Street Lights Using Sensors and Arduino (IEEE conference paper — ICCCT 2021).</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16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This conference paper presents a low-cost prototype and its survey findings: simple microcontroller-based designs (Arduino) with LDR and motion or IR sensors can reliably provide automatic ON/OFF operation and basic dimming to reduce nighttime energy consumption. The authors report straightforward energy savings in test deployments and emphasize accessibility for small municipalities or communities because of low component cost and ease of construction. The survey-style discussion in the paper underscores limitations for scaling: single-node designs lack networked management, have limited diagnostics and no remote telemetry, and require physical maintenance and calibration—so while great for proof-of-concept and rapid deployment, they don’t by themselves meet smart-city requirements for large-scale automated fleets.</a:t>
            </a:r>
          </a:p>
        </p:txBody>
      </p:sp>
    </p:spTree>
    <p:extLst>
      <p:ext uri="{BB962C8B-B14F-4D97-AF65-F5344CB8AC3E}">
        <p14:creationId xmlns:p14="http://schemas.microsoft.com/office/powerpoint/2010/main" val="3988628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02708-91B8-E607-1468-FAF1B3C24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FF7FB-2DCA-E897-393D-BFFC3DC119F4}"/>
              </a:ext>
            </a:extLst>
          </p:cNvPr>
          <p:cNvSpPr>
            <a:spLocks noGrp="1"/>
          </p:cNvSpPr>
          <p:nvPr>
            <p:ph type="title"/>
          </p:nvPr>
        </p:nvSpPr>
        <p:spPr/>
        <p:txBody>
          <a:bodyPr/>
          <a:lstStyle/>
          <a:p>
            <a:r>
              <a:rPr lang="en-US" b="1" dirty="0">
                <a:solidFill>
                  <a:schemeClr val="tx1">
                    <a:lumMod val="85000"/>
                    <a:lumOff val="15000"/>
                  </a:schemeClr>
                </a:solidFill>
                <a:latin typeface="Times New Roman"/>
                <a:ea typeface="Times New Roman"/>
                <a:cs typeface="Times New Roman"/>
                <a:sym typeface="Times New Roman"/>
              </a:rPr>
              <a:t>Literature Survey Findings(3&amp;4)</a:t>
            </a:r>
            <a:endParaRPr lang="en-IN"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4528ED35-7E3E-B3C3-E3F1-C06115222876}"/>
              </a:ext>
            </a:extLst>
          </p:cNvPr>
          <p:cNvSpPr>
            <a:spLocks noGrp="1"/>
          </p:cNvSpPr>
          <p:nvPr>
            <p:ph idx="1"/>
          </p:nvPr>
        </p:nvSpPr>
        <p:spPr/>
        <p:txBody>
          <a:bodyPr>
            <a:normAutofit/>
          </a:bodyPr>
          <a:lstStyle/>
          <a:p>
            <a:pPr marL="342900" indent="-342900">
              <a:buFont typeface="+mj-lt"/>
              <a:buAutoNum type="arabicPeriod"/>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Orchestrating a Sustainable, Energy-Efficient LoRa-Connected Lighting System for Next-Generation Smart Cities (IEEE conference paper, Sep 2023).</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16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The paper surveys and demonstrates a LoRa-based architecture for streetlighting that prioritizes low-power, long-range connectivity to enable distributed nodes (LED drivers + sensors) to be centrally orchestrated. Findings emphasize that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LoRaWAN</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(or custom LoRa links) lets operators perform remote dimming, fault detection and schedule updates with minimal power overhead and at lower infrastructure cost than cellular. The authors show that combining local sensor-driven control (ambient light + motion) with occasional LoRa uplinks achieves significant net energy savings while retaining scalability across wide urban areas; however, the survey notes tradeoffs — limited per-node bandwidth restricts rich telemetry and firmware updates, and network planning (gateway placement, interference) is critical for reliable coverage. </a:t>
            </a:r>
          </a:p>
          <a:p>
            <a:pPr marL="342900" indent="-342900">
              <a:buFont typeface="+mj-lt"/>
              <a:buAutoNum type="arabicPeriod"/>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Master Street Light System Integrating Automation and Air Pollution Monitoring for Urban Sustainability (IEEE conference paper — ICICV 2024).</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16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This work surveys integrated smart-pole concepts where streetlight controllers are combined with environmental monitoring (PM2.5, CO/NOx sensors) and automated control. The reported findings show the value of multiservice poles: the same communications and power infrastructure can support both adaptive lighting and city sensing, enabling more holistic urban management (e.g., dim lights when no traffic while still streaming pollution alerts). The authors highlight benefits such as aggregated operational cost savings, improved situational awareness for city planners, and the potential to trigger dynamic responses (e.g., adjust traffic signaling or issue public health alerts). Limitations in the survey include sensor calibration drift, data quality/validation needs, and the increased complexity and cost of integrating heterogeneous sensors and ensuring reliable telemetry — all requiring robust maintenance and standards</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315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22EA-626C-B3D2-034B-DE275CD34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EDF9B-C2CA-391C-6C6D-82A70AB2F87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ABC3A69-90B8-72C6-01E7-8F0750F54AE4}"/>
              </a:ext>
            </a:extLst>
          </p:cNvPr>
          <p:cNvSpPr>
            <a:spLocks noGrp="1"/>
          </p:cNvSpPr>
          <p:nvPr>
            <p:ph idx="1"/>
          </p:nvPr>
        </p:nvSpPr>
        <p:spPr/>
        <p:txBody>
          <a:bodyPr/>
          <a:lstStyle/>
          <a:p>
            <a:r>
              <a:rPr lang="en-US" sz="2800" dirty="0"/>
              <a:t>Municipalities face rising energy costs and urban pollution, highlighting the need for a cost-effective integrated system that combines street lighting control with real-time air quality monitoring for safety and sustainability</a:t>
            </a:r>
            <a:endParaRPr lang="en-US" sz="2800" dirty="0">
              <a:solidFill>
                <a:srgbClr val="000000"/>
              </a:solidFill>
              <a:latin typeface="Cambria" panose="02040503050406030204" pitchFamily="18" charset="0"/>
              <a:ea typeface="Cambria" panose="02040503050406030204" pitchFamily="18" charset="0"/>
              <a:cs typeface="SimSun-ExtB"/>
            </a:endParaRPr>
          </a:p>
        </p:txBody>
      </p:sp>
    </p:spTree>
    <p:extLst>
      <p:ext uri="{BB962C8B-B14F-4D97-AF65-F5344CB8AC3E}">
        <p14:creationId xmlns:p14="http://schemas.microsoft.com/office/powerpoint/2010/main" val="408282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4B0C0-615B-258C-34FC-FFD02066543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Aim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AAFA30-4B63-4F8B-4729-9218FE26A6F9}"/>
              </a:ext>
            </a:extLst>
          </p:cNvPr>
          <p:cNvSpPr>
            <a:spLocks noGrp="1"/>
          </p:cNvSpPr>
          <p:nvPr>
            <p:ph idx="1"/>
          </p:nvPr>
        </p:nvSpPr>
        <p:spPr/>
        <p:txBody>
          <a:bodyPr/>
          <a:lstStyle/>
          <a:p>
            <a:r>
              <a:rPr lang="en-US" dirty="0"/>
              <a:t>This project aims to develop a cost-effective smart street lighting system using MQ-135 sensors and ESP32 that adapts brightness based on air quality, reducing energy use while enhancing public safety.</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947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8F09-EDCD-722C-5E8A-015C9FAB118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Gap Identification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39CB5A-3B9C-5367-8404-DE7A9AA03344}"/>
              </a:ext>
            </a:extLst>
          </p:cNvPr>
          <p:cNvSpPr>
            <a:spLocks noGrp="1"/>
          </p:cNvSpPr>
          <p:nvPr>
            <p:ph idx="1"/>
          </p:nvPr>
        </p:nvSpPr>
        <p:spPr/>
        <p:txBody>
          <a:bodyPr/>
          <a:lstStyle/>
          <a:p>
            <a:pPr>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Existing systems are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single-purpose</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either lighting control OR pollution monitoring.</a:t>
            </a:r>
          </a:p>
          <a:p>
            <a:pPr>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Lack of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integrated solutions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leveraging shared infrastructure.</a:t>
            </a:r>
          </a:p>
          <a:p>
            <a:pPr>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Need for low-cost, scalable designs for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large urban deployment</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27877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7375" y="682625"/>
            <a:ext cx="10255250" cy="1265090"/>
          </a:xfrm>
          <a:prstGeom prst="rect">
            <a:avLst/>
          </a:prstGeom>
        </p:spPr>
        <p:txBody>
          <a:bodyPr vert="horz" wrap="square" lIns="0" tIns="155575" rIns="0" bIns="0" rtlCol="0">
            <a:spAutoFit/>
          </a:bodyPr>
          <a:lstStyle/>
          <a:p>
            <a:pPr marL="12700">
              <a:lnSpc>
                <a:spcPct val="100000"/>
              </a:lnSpc>
              <a:spcBef>
                <a:spcPts val="100"/>
              </a:spcBef>
            </a:pPr>
            <a:r>
              <a:rPr lang="en-IN" sz="7200" dirty="0"/>
              <a:t>Project Objective</a:t>
            </a:r>
            <a:endParaRPr sz="6750" dirty="0"/>
          </a:p>
        </p:txBody>
      </p:sp>
      <p:sp>
        <p:nvSpPr>
          <p:cNvPr id="3" name="object 3"/>
          <p:cNvSpPr txBox="1">
            <a:spLocks noGrp="1"/>
          </p:cNvSpPr>
          <p:nvPr>
            <p:ph idx="1"/>
          </p:nvPr>
        </p:nvSpPr>
        <p:spPr>
          <a:xfrm>
            <a:off x="609860" y="2926275"/>
            <a:ext cx="10255250" cy="854080"/>
          </a:xfrm>
          <a:prstGeom prst="rect">
            <a:avLst/>
          </a:prstGeom>
        </p:spPr>
        <p:txBody>
          <a:bodyPr vert="horz" wrap="square" lIns="0" tIns="6350" rIns="0" bIns="0" rtlCol="0">
            <a:spAutoFit/>
          </a:bodyPr>
          <a:lstStyle/>
          <a:p>
            <a:pPr marL="0" marR="5080" indent="0">
              <a:lnSpc>
                <a:spcPts val="3379"/>
              </a:lnSpc>
              <a:spcBef>
                <a:spcPts val="50"/>
              </a:spcBef>
              <a:buNone/>
            </a:pPr>
            <a:r>
              <a:rPr spc="55" dirty="0">
                <a:solidFill>
                  <a:schemeClr val="tx1">
                    <a:lumMod val="95000"/>
                    <a:lumOff val="5000"/>
                  </a:schemeClr>
                </a:solidFill>
                <a:latin typeface="Times New Roman" panose="02020603050405020304" pitchFamily="18" charset="0"/>
                <a:cs typeface="Times New Roman" panose="02020603050405020304" pitchFamily="18" charset="0"/>
              </a:rPr>
              <a:t>Design</a:t>
            </a:r>
            <a:r>
              <a:rPr spc="95" dirty="0">
                <a:solidFill>
                  <a:schemeClr val="tx1">
                    <a:lumMod val="95000"/>
                    <a:lumOff val="5000"/>
                  </a:schemeClr>
                </a:solidFill>
                <a:latin typeface="Times New Roman" panose="02020603050405020304" pitchFamily="18" charset="0"/>
                <a:cs typeface="Times New Roman" panose="02020603050405020304" pitchFamily="18" charset="0"/>
              </a:rPr>
              <a:t> </a:t>
            </a:r>
            <a:r>
              <a:rPr spc="60" dirty="0">
                <a:solidFill>
                  <a:schemeClr val="tx1">
                    <a:lumMod val="95000"/>
                    <a:lumOff val="5000"/>
                  </a:schemeClr>
                </a:solidFill>
                <a:latin typeface="Times New Roman" panose="02020603050405020304" pitchFamily="18" charset="0"/>
                <a:cs typeface="Times New Roman" panose="02020603050405020304" pitchFamily="18" charset="0"/>
              </a:rPr>
              <a:t>an</a:t>
            </a:r>
            <a:r>
              <a:rPr spc="95"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intelligent</a:t>
            </a:r>
            <a:r>
              <a:rPr spc="95" dirty="0">
                <a:solidFill>
                  <a:schemeClr val="tx1">
                    <a:lumMod val="95000"/>
                    <a:lumOff val="5000"/>
                  </a:schemeClr>
                </a:solidFill>
                <a:latin typeface="Times New Roman" panose="02020603050405020304" pitchFamily="18" charset="0"/>
                <a:cs typeface="Times New Roman" panose="02020603050405020304" pitchFamily="18" charset="0"/>
              </a:rPr>
              <a:t> </a:t>
            </a:r>
            <a:r>
              <a:rPr spc="70" dirty="0">
                <a:solidFill>
                  <a:schemeClr val="tx1">
                    <a:lumMod val="95000"/>
                    <a:lumOff val="5000"/>
                  </a:schemeClr>
                </a:solidFill>
                <a:latin typeface="Times New Roman" panose="02020603050405020304" pitchFamily="18" charset="0"/>
                <a:cs typeface="Times New Roman" panose="02020603050405020304" pitchFamily="18" charset="0"/>
              </a:rPr>
              <a:t>st</a:t>
            </a:r>
            <a:r>
              <a:rPr lang="en-US" spc="70" dirty="0">
                <a:solidFill>
                  <a:schemeClr val="tx1">
                    <a:lumMod val="95000"/>
                    <a:lumOff val="5000"/>
                  </a:schemeClr>
                </a:solidFill>
                <a:latin typeface="Times New Roman" panose="02020603050405020304" pitchFamily="18" charset="0"/>
                <a:cs typeface="Times New Roman" panose="02020603050405020304" pitchFamily="18" charset="0"/>
              </a:rPr>
              <a:t>r</a:t>
            </a:r>
            <a:r>
              <a:rPr spc="70" dirty="0">
                <a:solidFill>
                  <a:schemeClr val="tx1">
                    <a:lumMod val="95000"/>
                    <a:lumOff val="5000"/>
                  </a:schemeClr>
                </a:solidFill>
                <a:latin typeface="Times New Roman" panose="02020603050405020304" pitchFamily="18" charset="0"/>
                <a:cs typeface="Times New Roman" panose="02020603050405020304" pitchFamily="18" charset="0"/>
              </a:rPr>
              <a:t>eet</a:t>
            </a:r>
            <a:r>
              <a:rPr spc="95"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light</a:t>
            </a:r>
            <a:r>
              <a:rPr spc="95" dirty="0">
                <a:solidFill>
                  <a:schemeClr val="tx1">
                    <a:lumMod val="95000"/>
                    <a:lumOff val="5000"/>
                  </a:schemeClr>
                </a:solidFill>
                <a:latin typeface="Times New Roman" panose="02020603050405020304" pitchFamily="18" charset="0"/>
                <a:cs typeface="Times New Roman" panose="02020603050405020304" pitchFamily="18" charset="0"/>
              </a:rPr>
              <a:t> </a:t>
            </a:r>
            <a:r>
              <a:rPr spc="105" dirty="0">
                <a:solidFill>
                  <a:schemeClr val="tx1">
                    <a:lumMod val="95000"/>
                    <a:lumOff val="5000"/>
                  </a:schemeClr>
                </a:solidFill>
                <a:latin typeface="Times New Roman" panose="02020603050405020304" pitchFamily="18" charset="0"/>
                <a:cs typeface="Times New Roman" panose="02020603050405020304" pitchFamily="18" charset="0"/>
              </a:rPr>
              <a:t>cont</a:t>
            </a:r>
            <a:r>
              <a:rPr lang="en-US" spc="105" dirty="0">
                <a:solidFill>
                  <a:schemeClr val="tx1">
                    <a:lumMod val="95000"/>
                    <a:lumOff val="5000"/>
                  </a:schemeClr>
                </a:solidFill>
                <a:latin typeface="Times New Roman" panose="02020603050405020304" pitchFamily="18" charset="0"/>
                <a:cs typeface="Times New Roman" panose="02020603050405020304" pitchFamily="18" charset="0"/>
              </a:rPr>
              <a:t>r</a:t>
            </a:r>
            <a:r>
              <a:rPr spc="105" dirty="0">
                <a:solidFill>
                  <a:schemeClr val="tx1">
                    <a:lumMod val="95000"/>
                    <a:lumOff val="5000"/>
                  </a:schemeClr>
                </a:solidFill>
                <a:latin typeface="Times New Roman" panose="02020603050405020304" pitchFamily="18" charset="0"/>
                <a:cs typeface="Times New Roman" panose="02020603050405020304" pitchFamily="18" charset="0"/>
              </a:rPr>
              <a:t>olle</a:t>
            </a:r>
            <a:r>
              <a:rPr lang="en-US" spc="105" dirty="0">
                <a:solidFill>
                  <a:schemeClr val="tx1">
                    <a:lumMod val="95000"/>
                    <a:lumOff val="5000"/>
                  </a:schemeClr>
                </a:solidFill>
                <a:latin typeface="Times New Roman" panose="02020603050405020304" pitchFamily="18" charset="0"/>
                <a:cs typeface="Times New Roman" panose="02020603050405020304" pitchFamily="18" charset="0"/>
              </a:rPr>
              <a:t>r</a:t>
            </a:r>
            <a:r>
              <a:rPr spc="100" dirty="0">
                <a:solidFill>
                  <a:schemeClr val="tx1">
                    <a:lumMod val="95000"/>
                    <a:lumOff val="5000"/>
                  </a:schemeClr>
                </a:solidFill>
                <a:latin typeface="Times New Roman" panose="02020603050405020304" pitchFamily="18" charset="0"/>
                <a:cs typeface="Times New Roman" panose="02020603050405020304" pitchFamily="18" charset="0"/>
              </a:rPr>
              <a:t> </a:t>
            </a:r>
            <a:r>
              <a:rPr spc="30" dirty="0">
                <a:solidFill>
                  <a:schemeClr val="tx1">
                    <a:lumMod val="95000"/>
                    <a:lumOff val="5000"/>
                  </a:schemeClr>
                </a:solidFill>
                <a:latin typeface="Times New Roman" panose="02020603050405020304" pitchFamily="18" charset="0"/>
                <a:cs typeface="Times New Roman" panose="02020603050405020304" pitchFamily="18" charset="0"/>
              </a:rPr>
              <a:t>that </a:t>
            </a:r>
            <a:r>
              <a:rPr dirty="0">
                <a:solidFill>
                  <a:schemeClr val="tx1">
                    <a:lumMod val="95000"/>
                    <a:lumOff val="5000"/>
                  </a:schemeClr>
                </a:solidFill>
                <a:latin typeface="Times New Roman" panose="02020603050405020304" pitchFamily="18" charset="0"/>
                <a:cs typeface="Times New Roman" panose="02020603050405020304" pitchFamily="18" charset="0"/>
              </a:rPr>
              <a:t>automatically</a:t>
            </a:r>
            <a:r>
              <a:rPr spc="250"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adjusts</a:t>
            </a:r>
            <a:r>
              <a:rPr lang="en-US"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illumination</a:t>
            </a:r>
            <a:r>
              <a:rPr spc="240"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based</a:t>
            </a:r>
            <a:r>
              <a:rPr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on</a:t>
            </a:r>
            <a:r>
              <a:rPr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pc="100" dirty="0">
                <a:solidFill>
                  <a:schemeClr val="tx1">
                    <a:lumMod val="95000"/>
                    <a:lumOff val="5000"/>
                  </a:schemeClr>
                </a:solidFill>
                <a:latin typeface="Times New Roman" panose="02020603050405020304" pitchFamily="18" charset="0"/>
                <a:cs typeface="Times New Roman" panose="02020603050405020304" pitchFamily="18" charset="0"/>
              </a:rPr>
              <a:t>r</a:t>
            </a:r>
            <a:r>
              <a:rPr spc="100" dirty="0">
                <a:solidFill>
                  <a:schemeClr val="tx1">
                    <a:lumMod val="95000"/>
                    <a:lumOff val="5000"/>
                  </a:schemeClr>
                </a:solidFill>
                <a:latin typeface="Times New Roman" panose="02020603050405020304" pitchFamily="18" charset="0"/>
                <a:cs typeface="Times New Roman" panose="02020603050405020304" pitchFamily="18" charset="0"/>
              </a:rPr>
              <a:t>eal-</a:t>
            </a:r>
            <a:r>
              <a:rPr dirty="0">
                <a:solidFill>
                  <a:schemeClr val="tx1">
                    <a:lumMod val="95000"/>
                    <a:lumOff val="5000"/>
                  </a:schemeClr>
                </a:solidFill>
                <a:latin typeface="Times New Roman" panose="02020603050405020304" pitchFamily="18" charset="0"/>
                <a:cs typeface="Times New Roman" panose="02020603050405020304" pitchFamily="18" charset="0"/>
              </a:rPr>
              <a:t>time</a:t>
            </a:r>
            <a:r>
              <a:rPr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spc="130" dirty="0">
                <a:solidFill>
                  <a:schemeClr val="tx1">
                    <a:lumMod val="95000"/>
                    <a:lumOff val="5000"/>
                  </a:schemeClr>
                </a:solidFill>
                <a:latin typeface="Times New Roman" panose="02020603050405020304" pitchFamily="18" charset="0"/>
                <a:cs typeface="Times New Roman" panose="02020603050405020304" pitchFamily="18" charset="0"/>
              </a:rPr>
              <a:t>ai</a:t>
            </a:r>
            <a:r>
              <a:rPr lang="en-US" spc="130" dirty="0">
                <a:solidFill>
                  <a:schemeClr val="tx1">
                    <a:lumMod val="95000"/>
                    <a:lumOff val="5000"/>
                  </a:schemeClr>
                </a:solidFill>
                <a:latin typeface="Times New Roman" panose="02020603050405020304" pitchFamily="18" charset="0"/>
                <a:cs typeface="Times New Roman" panose="02020603050405020304" pitchFamily="18" charset="0"/>
              </a:rPr>
              <a:t>r</a:t>
            </a:r>
            <a:r>
              <a:rPr spc="130" dirty="0">
                <a:solidFill>
                  <a:schemeClr val="tx1">
                    <a:lumMod val="95000"/>
                    <a:lumOff val="5000"/>
                  </a:schemeClr>
                </a:solidFill>
                <a:latin typeface="Times New Roman" panose="02020603050405020304" pitchFamily="18" charset="0"/>
                <a:cs typeface="Times New Roman" panose="02020603050405020304" pitchFamily="18" charset="0"/>
              </a:rPr>
              <a:t> </a:t>
            </a:r>
            <a:r>
              <a:rPr dirty="0">
                <a:solidFill>
                  <a:schemeClr val="tx1">
                    <a:lumMod val="95000"/>
                    <a:lumOff val="5000"/>
                  </a:schemeClr>
                </a:solidFill>
                <a:latin typeface="Times New Roman" panose="02020603050405020304" pitchFamily="18" charset="0"/>
                <a:cs typeface="Times New Roman" panose="02020603050405020304" pitchFamily="18" charset="0"/>
              </a:rPr>
              <a:t>pollution</a:t>
            </a:r>
            <a:r>
              <a:rPr spc="210" dirty="0">
                <a:solidFill>
                  <a:schemeClr val="tx1">
                    <a:lumMod val="95000"/>
                    <a:lumOff val="5000"/>
                  </a:schemeClr>
                </a:solidFill>
                <a:latin typeface="Times New Roman" panose="02020603050405020304" pitchFamily="18" charset="0"/>
                <a:cs typeface="Times New Roman" panose="02020603050405020304" pitchFamily="18" charset="0"/>
              </a:rPr>
              <a:t> </a:t>
            </a:r>
            <a:r>
              <a:rPr spc="-10" dirty="0">
                <a:solidFill>
                  <a:schemeClr val="tx1">
                    <a:lumMod val="95000"/>
                    <a:lumOff val="5000"/>
                  </a:schemeClr>
                </a:solidFill>
                <a:latin typeface="Times New Roman" panose="02020603050405020304" pitchFamily="18" charset="0"/>
                <a:cs typeface="Times New Roman" panose="02020603050405020304" pitchFamily="18" charset="0"/>
              </a:rPr>
              <a:t>levels</a:t>
            </a:r>
          </a:p>
        </p:txBody>
      </p:sp>
      <p:grpSp>
        <p:nvGrpSpPr>
          <p:cNvPr id="5" name="object 5"/>
          <p:cNvGrpSpPr/>
          <p:nvPr/>
        </p:nvGrpSpPr>
        <p:grpSpPr>
          <a:xfrm>
            <a:off x="600075" y="4286250"/>
            <a:ext cx="3295650" cy="1276350"/>
            <a:chOff x="600075" y="4286250"/>
            <a:chExt cx="3295650" cy="1276350"/>
          </a:xfrm>
        </p:grpSpPr>
        <p:sp>
          <p:nvSpPr>
            <p:cNvPr id="6" name="object 6"/>
            <p:cNvSpPr/>
            <p:nvPr/>
          </p:nvSpPr>
          <p:spPr>
            <a:xfrm>
              <a:off x="604837" y="4291012"/>
              <a:ext cx="3286125" cy="1266825"/>
            </a:xfrm>
            <a:custGeom>
              <a:avLst/>
              <a:gdLst/>
              <a:ahLst/>
              <a:cxnLst/>
              <a:rect l="l" t="t" r="r" b="b"/>
              <a:pathLst>
                <a:path w="3286125" h="1266825">
                  <a:moveTo>
                    <a:pt x="3083433" y="0"/>
                  </a:moveTo>
                  <a:lnTo>
                    <a:pt x="202689" y="0"/>
                  </a:lnTo>
                  <a:lnTo>
                    <a:pt x="195842" y="330"/>
                  </a:lnTo>
                  <a:lnTo>
                    <a:pt x="155286" y="7035"/>
                  </a:lnTo>
                  <a:lnTo>
                    <a:pt x="116819" y="21501"/>
                  </a:lnTo>
                  <a:lnTo>
                    <a:pt x="81920" y="43205"/>
                  </a:lnTo>
                  <a:lnTo>
                    <a:pt x="51921" y="71310"/>
                  </a:lnTo>
                  <a:lnTo>
                    <a:pt x="27979" y="104711"/>
                  </a:lnTo>
                  <a:lnTo>
                    <a:pt x="11013" y="142151"/>
                  </a:lnTo>
                  <a:lnTo>
                    <a:pt x="1681" y="182181"/>
                  </a:lnTo>
                  <a:lnTo>
                    <a:pt x="0" y="202679"/>
                  </a:lnTo>
                  <a:lnTo>
                    <a:pt x="0" y="1057276"/>
                  </a:lnTo>
                  <a:lnTo>
                    <a:pt x="0" y="1064136"/>
                  </a:lnTo>
                  <a:lnTo>
                    <a:pt x="5368" y="1104886"/>
                  </a:lnTo>
                  <a:lnTo>
                    <a:pt x="18578" y="1143805"/>
                  </a:lnTo>
                  <a:lnTo>
                    <a:pt x="39127" y="1179399"/>
                  </a:lnTo>
                  <a:lnTo>
                    <a:pt x="66227" y="1210301"/>
                  </a:lnTo>
                  <a:lnTo>
                    <a:pt x="98836" y="1235318"/>
                  </a:lnTo>
                  <a:lnTo>
                    <a:pt x="135702" y="1253501"/>
                  </a:lnTo>
                  <a:lnTo>
                    <a:pt x="175398" y="1264137"/>
                  </a:lnTo>
                  <a:lnTo>
                    <a:pt x="202689" y="1266826"/>
                  </a:lnTo>
                  <a:lnTo>
                    <a:pt x="3083433" y="1266826"/>
                  </a:lnTo>
                  <a:lnTo>
                    <a:pt x="3124187" y="1261457"/>
                  </a:lnTo>
                  <a:lnTo>
                    <a:pt x="3163112" y="1248247"/>
                  </a:lnTo>
                  <a:lnTo>
                    <a:pt x="3198698" y="1227693"/>
                  </a:lnTo>
                  <a:lnTo>
                    <a:pt x="3229597" y="1200591"/>
                  </a:lnTo>
                  <a:lnTo>
                    <a:pt x="3254629" y="1167989"/>
                  </a:lnTo>
                  <a:lnTo>
                    <a:pt x="3272802" y="1131124"/>
                  </a:lnTo>
                  <a:lnTo>
                    <a:pt x="3283432" y="1091421"/>
                  </a:lnTo>
                  <a:lnTo>
                    <a:pt x="3286125" y="1064136"/>
                  </a:lnTo>
                  <a:lnTo>
                    <a:pt x="3286125" y="202679"/>
                  </a:lnTo>
                  <a:lnTo>
                    <a:pt x="3280752" y="161937"/>
                  </a:lnTo>
                  <a:lnTo>
                    <a:pt x="3267544" y="123012"/>
                  </a:lnTo>
                  <a:lnTo>
                    <a:pt x="3246996" y="87426"/>
                  </a:lnTo>
                  <a:lnTo>
                    <a:pt x="3219894" y="56515"/>
                  </a:lnTo>
                  <a:lnTo>
                    <a:pt x="3187293" y="31508"/>
                  </a:lnTo>
                  <a:lnTo>
                    <a:pt x="3150425" y="13322"/>
                  </a:lnTo>
                  <a:lnTo>
                    <a:pt x="3110725" y="2679"/>
                  </a:lnTo>
                  <a:lnTo>
                    <a:pt x="3090278" y="330"/>
                  </a:lnTo>
                  <a:lnTo>
                    <a:pt x="3083433" y="0"/>
                  </a:lnTo>
                  <a:close/>
                </a:path>
              </a:pathLst>
            </a:custGeom>
            <a:solidFill>
              <a:srgbClr val="616C3B"/>
            </a:solidFill>
          </p:spPr>
          <p:txBody>
            <a:bodyPr wrap="square" lIns="0" tIns="0" rIns="0" bIns="0" rtlCol="0"/>
            <a:lstStyle/>
            <a:p>
              <a:endParaRPr/>
            </a:p>
          </p:txBody>
        </p:sp>
        <p:sp>
          <p:nvSpPr>
            <p:cNvPr id="7" name="object 7"/>
            <p:cNvSpPr/>
            <p:nvPr/>
          </p:nvSpPr>
          <p:spPr>
            <a:xfrm>
              <a:off x="604837" y="4291012"/>
              <a:ext cx="3286125" cy="1266825"/>
            </a:xfrm>
            <a:custGeom>
              <a:avLst/>
              <a:gdLst/>
              <a:ahLst/>
              <a:cxnLst/>
              <a:rect l="l" t="t" r="r" b="b"/>
              <a:pathLst>
                <a:path w="3286125" h="1266825">
                  <a:moveTo>
                    <a:pt x="0" y="1057276"/>
                  </a:moveTo>
                  <a:lnTo>
                    <a:pt x="0" y="209550"/>
                  </a:lnTo>
                  <a:lnTo>
                    <a:pt x="0" y="202679"/>
                  </a:lnTo>
                  <a:lnTo>
                    <a:pt x="337" y="195834"/>
                  </a:lnTo>
                  <a:lnTo>
                    <a:pt x="1007" y="189001"/>
                  </a:lnTo>
                  <a:lnTo>
                    <a:pt x="1681" y="182181"/>
                  </a:lnTo>
                  <a:lnTo>
                    <a:pt x="2688" y="175399"/>
                  </a:lnTo>
                  <a:lnTo>
                    <a:pt x="4028" y="168668"/>
                  </a:lnTo>
                  <a:lnTo>
                    <a:pt x="5368" y="161937"/>
                  </a:lnTo>
                  <a:lnTo>
                    <a:pt x="7029" y="155282"/>
                  </a:lnTo>
                  <a:lnTo>
                    <a:pt x="9023" y="148717"/>
                  </a:lnTo>
                  <a:lnTo>
                    <a:pt x="11013" y="142151"/>
                  </a:lnTo>
                  <a:lnTo>
                    <a:pt x="13324" y="135699"/>
                  </a:lnTo>
                  <a:lnTo>
                    <a:pt x="15949" y="129362"/>
                  </a:lnTo>
                  <a:lnTo>
                    <a:pt x="18578" y="123012"/>
                  </a:lnTo>
                  <a:lnTo>
                    <a:pt x="21506" y="116827"/>
                  </a:lnTo>
                  <a:lnTo>
                    <a:pt x="24744" y="110769"/>
                  </a:lnTo>
                  <a:lnTo>
                    <a:pt x="27979" y="104711"/>
                  </a:lnTo>
                  <a:lnTo>
                    <a:pt x="31502" y="98831"/>
                  </a:lnTo>
                  <a:lnTo>
                    <a:pt x="35317" y="93129"/>
                  </a:lnTo>
                  <a:lnTo>
                    <a:pt x="39127" y="87426"/>
                  </a:lnTo>
                  <a:lnTo>
                    <a:pt x="66227" y="56515"/>
                  </a:lnTo>
                  <a:lnTo>
                    <a:pt x="93131" y="35318"/>
                  </a:lnTo>
                  <a:lnTo>
                    <a:pt x="98836" y="31508"/>
                  </a:lnTo>
                  <a:lnTo>
                    <a:pt x="104715" y="27978"/>
                  </a:lnTo>
                  <a:lnTo>
                    <a:pt x="110768" y="24739"/>
                  </a:lnTo>
                  <a:lnTo>
                    <a:pt x="116819" y="21501"/>
                  </a:lnTo>
                  <a:lnTo>
                    <a:pt x="148719" y="9029"/>
                  </a:lnTo>
                  <a:lnTo>
                    <a:pt x="155286" y="7035"/>
                  </a:lnTo>
                  <a:lnTo>
                    <a:pt x="161940" y="5359"/>
                  </a:lnTo>
                  <a:lnTo>
                    <a:pt x="168667" y="4025"/>
                  </a:lnTo>
                  <a:lnTo>
                    <a:pt x="175398" y="2679"/>
                  </a:lnTo>
                  <a:lnTo>
                    <a:pt x="182180" y="1676"/>
                  </a:lnTo>
                  <a:lnTo>
                    <a:pt x="189011" y="1003"/>
                  </a:lnTo>
                  <a:lnTo>
                    <a:pt x="195842" y="330"/>
                  </a:lnTo>
                  <a:lnTo>
                    <a:pt x="202689" y="0"/>
                  </a:lnTo>
                  <a:lnTo>
                    <a:pt x="209550" y="0"/>
                  </a:lnTo>
                  <a:lnTo>
                    <a:pt x="3076575" y="0"/>
                  </a:lnTo>
                  <a:lnTo>
                    <a:pt x="3083433" y="0"/>
                  </a:lnTo>
                  <a:lnTo>
                    <a:pt x="3090278" y="330"/>
                  </a:lnTo>
                  <a:lnTo>
                    <a:pt x="3097110" y="1003"/>
                  </a:lnTo>
                  <a:lnTo>
                    <a:pt x="3103943" y="1676"/>
                  </a:lnTo>
                  <a:lnTo>
                    <a:pt x="3110725" y="2679"/>
                  </a:lnTo>
                  <a:lnTo>
                    <a:pt x="3117456" y="4025"/>
                  </a:lnTo>
                  <a:lnTo>
                    <a:pt x="3124187" y="5359"/>
                  </a:lnTo>
                  <a:lnTo>
                    <a:pt x="3156762" y="15951"/>
                  </a:lnTo>
                  <a:lnTo>
                    <a:pt x="3163112" y="18580"/>
                  </a:lnTo>
                  <a:lnTo>
                    <a:pt x="3169310" y="21501"/>
                  </a:lnTo>
                  <a:lnTo>
                    <a:pt x="3175355" y="24739"/>
                  </a:lnTo>
                  <a:lnTo>
                    <a:pt x="3181413" y="27978"/>
                  </a:lnTo>
                  <a:lnTo>
                    <a:pt x="3214814" y="51917"/>
                  </a:lnTo>
                  <a:lnTo>
                    <a:pt x="3242919" y="81915"/>
                  </a:lnTo>
                  <a:lnTo>
                    <a:pt x="3250806" y="93129"/>
                  </a:lnTo>
                  <a:lnTo>
                    <a:pt x="3254629" y="98831"/>
                  </a:lnTo>
                  <a:lnTo>
                    <a:pt x="3270173" y="129362"/>
                  </a:lnTo>
                  <a:lnTo>
                    <a:pt x="3272802" y="135699"/>
                  </a:lnTo>
                  <a:lnTo>
                    <a:pt x="3275114" y="142151"/>
                  </a:lnTo>
                  <a:lnTo>
                    <a:pt x="3277095" y="148717"/>
                  </a:lnTo>
                  <a:lnTo>
                    <a:pt x="3279089" y="155282"/>
                  </a:lnTo>
                  <a:lnTo>
                    <a:pt x="3285782" y="195834"/>
                  </a:lnTo>
                  <a:lnTo>
                    <a:pt x="3286125" y="202679"/>
                  </a:lnTo>
                  <a:lnTo>
                    <a:pt x="3286125" y="209550"/>
                  </a:lnTo>
                  <a:lnTo>
                    <a:pt x="3286125" y="1057276"/>
                  </a:lnTo>
                  <a:lnTo>
                    <a:pt x="3286125" y="1064136"/>
                  </a:lnTo>
                  <a:lnTo>
                    <a:pt x="3285782" y="1070983"/>
                  </a:lnTo>
                  <a:lnTo>
                    <a:pt x="3279089" y="1111533"/>
                  </a:lnTo>
                  <a:lnTo>
                    <a:pt x="3277095" y="1118101"/>
                  </a:lnTo>
                  <a:lnTo>
                    <a:pt x="3275114" y="1124670"/>
                  </a:lnTo>
                  <a:lnTo>
                    <a:pt x="3272802" y="1131124"/>
                  </a:lnTo>
                  <a:lnTo>
                    <a:pt x="3270173" y="1137464"/>
                  </a:lnTo>
                  <a:lnTo>
                    <a:pt x="3267544" y="1143805"/>
                  </a:lnTo>
                  <a:lnTo>
                    <a:pt x="3250806" y="1173694"/>
                  </a:lnTo>
                  <a:lnTo>
                    <a:pt x="3246996" y="1179399"/>
                  </a:lnTo>
                  <a:lnTo>
                    <a:pt x="3242919" y="1184906"/>
                  </a:lnTo>
                  <a:lnTo>
                    <a:pt x="3238563" y="1190209"/>
                  </a:lnTo>
                  <a:lnTo>
                    <a:pt x="3234207" y="1195517"/>
                  </a:lnTo>
                  <a:lnTo>
                    <a:pt x="3204210" y="1223610"/>
                  </a:lnTo>
                  <a:lnTo>
                    <a:pt x="3175355" y="1242080"/>
                  </a:lnTo>
                  <a:lnTo>
                    <a:pt x="3169310" y="1245315"/>
                  </a:lnTo>
                  <a:lnTo>
                    <a:pt x="3163112" y="1248247"/>
                  </a:lnTo>
                  <a:lnTo>
                    <a:pt x="3156762" y="1250871"/>
                  </a:lnTo>
                  <a:lnTo>
                    <a:pt x="3150425" y="1253501"/>
                  </a:lnTo>
                  <a:lnTo>
                    <a:pt x="3110725" y="1264137"/>
                  </a:lnTo>
                  <a:lnTo>
                    <a:pt x="3097110" y="1265814"/>
                  </a:lnTo>
                  <a:lnTo>
                    <a:pt x="3090278" y="1266488"/>
                  </a:lnTo>
                  <a:lnTo>
                    <a:pt x="3083433" y="1266826"/>
                  </a:lnTo>
                  <a:lnTo>
                    <a:pt x="3076575" y="1266826"/>
                  </a:lnTo>
                  <a:lnTo>
                    <a:pt x="209550" y="1266826"/>
                  </a:lnTo>
                  <a:lnTo>
                    <a:pt x="202689" y="1266826"/>
                  </a:lnTo>
                  <a:lnTo>
                    <a:pt x="195842" y="1266488"/>
                  </a:lnTo>
                  <a:lnTo>
                    <a:pt x="189011" y="1265814"/>
                  </a:lnTo>
                  <a:lnTo>
                    <a:pt x="182180" y="1265144"/>
                  </a:lnTo>
                  <a:lnTo>
                    <a:pt x="142156" y="1255807"/>
                  </a:lnTo>
                  <a:lnTo>
                    <a:pt x="129355" y="1250871"/>
                  </a:lnTo>
                  <a:lnTo>
                    <a:pt x="123016" y="1248247"/>
                  </a:lnTo>
                  <a:lnTo>
                    <a:pt x="116819" y="1245315"/>
                  </a:lnTo>
                  <a:lnTo>
                    <a:pt x="110768" y="1242080"/>
                  </a:lnTo>
                  <a:lnTo>
                    <a:pt x="104715" y="1238846"/>
                  </a:lnTo>
                  <a:lnTo>
                    <a:pt x="71307" y="1214904"/>
                  </a:lnTo>
                  <a:lnTo>
                    <a:pt x="47565" y="1190209"/>
                  </a:lnTo>
                  <a:lnTo>
                    <a:pt x="43209" y="1184906"/>
                  </a:lnTo>
                  <a:lnTo>
                    <a:pt x="39127" y="1179399"/>
                  </a:lnTo>
                  <a:lnTo>
                    <a:pt x="35317" y="1173694"/>
                  </a:lnTo>
                  <a:lnTo>
                    <a:pt x="31502" y="1167989"/>
                  </a:lnTo>
                  <a:lnTo>
                    <a:pt x="27979" y="1162105"/>
                  </a:lnTo>
                  <a:lnTo>
                    <a:pt x="24744" y="1156053"/>
                  </a:lnTo>
                  <a:lnTo>
                    <a:pt x="21506" y="1150000"/>
                  </a:lnTo>
                  <a:lnTo>
                    <a:pt x="9023" y="1118101"/>
                  </a:lnTo>
                  <a:lnTo>
                    <a:pt x="7029" y="1111533"/>
                  </a:lnTo>
                  <a:lnTo>
                    <a:pt x="5368" y="1104886"/>
                  </a:lnTo>
                  <a:lnTo>
                    <a:pt x="4028" y="1098153"/>
                  </a:lnTo>
                  <a:lnTo>
                    <a:pt x="2688" y="1091421"/>
                  </a:lnTo>
                  <a:lnTo>
                    <a:pt x="1681" y="1084646"/>
                  </a:lnTo>
                  <a:lnTo>
                    <a:pt x="1007" y="1077814"/>
                  </a:lnTo>
                  <a:lnTo>
                    <a:pt x="337" y="1070983"/>
                  </a:lnTo>
                  <a:lnTo>
                    <a:pt x="0" y="1064136"/>
                  </a:lnTo>
                  <a:lnTo>
                    <a:pt x="0" y="1057276"/>
                  </a:lnTo>
                  <a:close/>
                </a:path>
              </a:pathLst>
            </a:custGeom>
            <a:ln w="9525">
              <a:solidFill>
                <a:srgbClr val="7B8453"/>
              </a:solidFill>
            </a:ln>
          </p:spPr>
          <p:txBody>
            <a:bodyPr wrap="square" lIns="0" tIns="0" rIns="0" bIns="0" rtlCol="0"/>
            <a:lstStyle/>
            <a:p>
              <a:endParaRPr/>
            </a:p>
          </p:txBody>
        </p:sp>
      </p:grpSp>
      <p:sp>
        <p:nvSpPr>
          <p:cNvPr id="8" name="object 8"/>
          <p:cNvSpPr txBox="1"/>
          <p:nvPr/>
        </p:nvSpPr>
        <p:spPr>
          <a:xfrm>
            <a:off x="768350" y="4440237"/>
            <a:ext cx="2574290" cy="935513"/>
          </a:xfrm>
          <a:prstGeom prst="rect">
            <a:avLst/>
          </a:prstGeom>
        </p:spPr>
        <p:txBody>
          <a:bodyPr vert="horz" wrap="square" lIns="0" tIns="17145" rIns="0" bIns="0" rtlCol="0">
            <a:spAutoFit/>
          </a:bodyPr>
          <a:lstStyle/>
          <a:p>
            <a:pPr marL="12700">
              <a:lnSpc>
                <a:spcPct val="100000"/>
              </a:lnSpc>
              <a:spcBef>
                <a:spcPts val="135"/>
              </a:spcBef>
            </a:pPr>
            <a:r>
              <a:rPr lang="en-US" sz="1600" b="1" spc="80" dirty="0">
                <a:solidFill>
                  <a:srgbClr val="FFFFFF"/>
                </a:solidFill>
                <a:latin typeface="Cambria"/>
                <a:cs typeface="Cambria"/>
              </a:rPr>
              <a:t>Monitor Air Quality</a:t>
            </a:r>
          </a:p>
          <a:p>
            <a:pPr marL="12700">
              <a:lnSpc>
                <a:spcPct val="100000"/>
              </a:lnSpc>
              <a:spcBef>
                <a:spcPts val="135"/>
              </a:spcBef>
            </a:pPr>
            <a:endParaRPr lang="en-US" sz="1400" b="1" spc="80" dirty="0">
              <a:solidFill>
                <a:srgbClr val="FFFFFF"/>
              </a:solidFill>
              <a:latin typeface="Cambria"/>
              <a:cs typeface="Cambria"/>
            </a:endParaRPr>
          </a:p>
          <a:p>
            <a:pPr marL="12700">
              <a:lnSpc>
                <a:spcPct val="100000"/>
              </a:lnSpc>
              <a:spcBef>
                <a:spcPts val="135"/>
              </a:spcBef>
            </a:pPr>
            <a:r>
              <a:rPr lang="en-US" sz="1400" b="1" spc="80" dirty="0">
                <a:solidFill>
                  <a:srgbClr val="FFFFFF"/>
                </a:solidFill>
                <a:latin typeface="Cambria"/>
                <a:cs typeface="Cambria"/>
              </a:rPr>
              <a:t>Continuous sensing of pollution levels</a:t>
            </a:r>
            <a:endParaRPr sz="1400" dirty="0">
              <a:latin typeface="SimSun-ExtB"/>
              <a:cs typeface="SimSun-ExtB"/>
            </a:endParaRPr>
          </a:p>
        </p:txBody>
      </p:sp>
      <p:grpSp>
        <p:nvGrpSpPr>
          <p:cNvPr id="9" name="object 9"/>
          <p:cNvGrpSpPr/>
          <p:nvPr/>
        </p:nvGrpSpPr>
        <p:grpSpPr>
          <a:xfrm>
            <a:off x="4067175" y="4286250"/>
            <a:ext cx="3295650" cy="1276350"/>
            <a:chOff x="4067175" y="4286250"/>
            <a:chExt cx="3295650" cy="1276350"/>
          </a:xfrm>
        </p:grpSpPr>
        <p:sp>
          <p:nvSpPr>
            <p:cNvPr id="10" name="object 10"/>
            <p:cNvSpPr/>
            <p:nvPr/>
          </p:nvSpPr>
          <p:spPr>
            <a:xfrm>
              <a:off x="4071937" y="4291012"/>
              <a:ext cx="3286125" cy="1266825"/>
            </a:xfrm>
            <a:custGeom>
              <a:avLst/>
              <a:gdLst/>
              <a:ahLst/>
              <a:cxnLst/>
              <a:rect l="l" t="t" r="r" b="b"/>
              <a:pathLst>
                <a:path w="3286125" h="1266825">
                  <a:moveTo>
                    <a:pt x="3083433" y="0"/>
                  </a:moveTo>
                  <a:lnTo>
                    <a:pt x="202692" y="0"/>
                  </a:lnTo>
                  <a:lnTo>
                    <a:pt x="195834" y="330"/>
                  </a:lnTo>
                  <a:lnTo>
                    <a:pt x="155282" y="7035"/>
                  </a:lnTo>
                  <a:lnTo>
                    <a:pt x="116814" y="21501"/>
                  </a:lnTo>
                  <a:lnTo>
                    <a:pt x="81915" y="43205"/>
                  </a:lnTo>
                  <a:lnTo>
                    <a:pt x="51917" y="71310"/>
                  </a:lnTo>
                  <a:lnTo>
                    <a:pt x="27978" y="104711"/>
                  </a:lnTo>
                  <a:lnTo>
                    <a:pt x="11010" y="142151"/>
                  </a:lnTo>
                  <a:lnTo>
                    <a:pt x="1676" y="182181"/>
                  </a:lnTo>
                  <a:lnTo>
                    <a:pt x="0" y="202679"/>
                  </a:lnTo>
                  <a:lnTo>
                    <a:pt x="0" y="1057276"/>
                  </a:lnTo>
                  <a:lnTo>
                    <a:pt x="0" y="1064136"/>
                  </a:lnTo>
                  <a:lnTo>
                    <a:pt x="5372" y="1104886"/>
                  </a:lnTo>
                  <a:lnTo>
                    <a:pt x="18580" y="1143805"/>
                  </a:lnTo>
                  <a:lnTo>
                    <a:pt x="39128" y="1179399"/>
                  </a:lnTo>
                  <a:lnTo>
                    <a:pt x="66230" y="1210301"/>
                  </a:lnTo>
                  <a:lnTo>
                    <a:pt x="98831" y="1235318"/>
                  </a:lnTo>
                  <a:lnTo>
                    <a:pt x="135699" y="1253501"/>
                  </a:lnTo>
                  <a:lnTo>
                    <a:pt x="175399" y="1264137"/>
                  </a:lnTo>
                  <a:lnTo>
                    <a:pt x="202692" y="1266826"/>
                  </a:lnTo>
                  <a:lnTo>
                    <a:pt x="3083433" y="1266826"/>
                  </a:lnTo>
                  <a:lnTo>
                    <a:pt x="3124187" y="1261457"/>
                  </a:lnTo>
                  <a:lnTo>
                    <a:pt x="3163112" y="1248247"/>
                  </a:lnTo>
                  <a:lnTo>
                    <a:pt x="3198698" y="1227693"/>
                  </a:lnTo>
                  <a:lnTo>
                    <a:pt x="3229597" y="1200591"/>
                  </a:lnTo>
                  <a:lnTo>
                    <a:pt x="3254629" y="1167989"/>
                  </a:lnTo>
                  <a:lnTo>
                    <a:pt x="3272802" y="1131124"/>
                  </a:lnTo>
                  <a:lnTo>
                    <a:pt x="3283432" y="1091421"/>
                  </a:lnTo>
                  <a:lnTo>
                    <a:pt x="3286125" y="1064136"/>
                  </a:lnTo>
                  <a:lnTo>
                    <a:pt x="3286125" y="202679"/>
                  </a:lnTo>
                  <a:lnTo>
                    <a:pt x="3280752" y="161937"/>
                  </a:lnTo>
                  <a:lnTo>
                    <a:pt x="3267544" y="123012"/>
                  </a:lnTo>
                  <a:lnTo>
                    <a:pt x="3246996" y="87426"/>
                  </a:lnTo>
                  <a:lnTo>
                    <a:pt x="3219894" y="56515"/>
                  </a:lnTo>
                  <a:lnTo>
                    <a:pt x="3187293" y="31508"/>
                  </a:lnTo>
                  <a:lnTo>
                    <a:pt x="3150425" y="13322"/>
                  </a:lnTo>
                  <a:lnTo>
                    <a:pt x="3110725" y="2679"/>
                  </a:lnTo>
                  <a:lnTo>
                    <a:pt x="3090278" y="330"/>
                  </a:lnTo>
                  <a:lnTo>
                    <a:pt x="3083433" y="0"/>
                  </a:lnTo>
                  <a:close/>
                </a:path>
              </a:pathLst>
            </a:custGeom>
            <a:solidFill>
              <a:srgbClr val="616C3B"/>
            </a:solidFill>
          </p:spPr>
          <p:txBody>
            <a:bodyPr wrap="square" lIns="0" tIns="0" rIns="0" bIns="0" rtlCol="0"/>
            <a:lstStyle/>
            <a:p>
              <a:endParaRPr/>
            </a:p>
          </p:txBody>
        </p:sp>
        <p:sp>
          <p:nvSpPr>
            <p:cNvPr id="11" name="object 11"/>
            <p:cNvSpPr/>
            <p:nvPr/>
          </p:nvSpPr>
          <p:spPr>
            <a:xfrm>
              <a:off x="4071937" y="4291012"/>
              <a:ext cx="3286125" cy="1266825"/>
            </a:xfrm>
            <a:custGeom>
              <a:avLst/>
              <a:gdLst/>
              <a:ahLst/>
              <a:cxnLst/>
              <a:rect l="l" t="t" r="r" b="b"/>
              <a:pathLst>
                <a:path w="3286125" h="1266825">
                  <a:moveTo>
                    <a:pt x="0" y="1057276"/>
                  </a:moveTo>
                  <a:lnTo>
                    <a:pt x="0" y="209550"/>
                  </a:lnTo>
                  <a:lnTo>
                    <a:pt x="0" y="202679"/>
                  </a:lnTo>
                  <a:lnTo>
                    <a:pt x="342" y="195834"/>
                  </a:lnTo>
                  <a:lnTo>
                    <a:pt x="1003" y="189001"/>
                  </a:lnTo>
                  <a:lnTo>
                    <a:pt x="1676" y="182181"/>
                  </a:lnTo>
                  <a:lnTo>
                    <a:pt x="2692" y="175399"/>
                  </a:lnTo>
                  <a:lnTo>
                    <a:pt x="4025" y="168668"/>
                  </a:lnTo>
                  <a:lnTo>
                    <a:pt x="5359" y="161937"/>
                  </a:lnTo>
                  <a:lnTo>
                    <a:pt x="7035" y="155282"/>
                  </a:lnTo>
                  <a:lnTo>
                    <a:pt x="9029" y="148717"/>
                  </a:lnTo>
                  <a:lnTo>
                    <a:pt x="11010" y="142151"/>
                  </a:lnTo>
                  <a:lnTo>
                    <a:pt x="13322" y="135699"/>
                  </a:lnTo>
                  <a:lnTo>
                    <a:pt x="15951" y="129362"/>
                  </a:lnTo>
                  <a:lnTo>
                    <a:pt x="18580" y="123012"/>
                  </a:lnTo>
                  <a:lnTo>
                    <a:pt x="21501" y="116827"/>
                  </a:lnTo>
                  <a:lnTo>
                    <a:pt x="24739" y="110769"/>
                  </a:lnTo>
                  <a:lnTo>
                    <a:pt x="27978" y="104711"/>
                  </a:lnTo>
                  <a:lnTo>
                    <a:pt x="31496" y="98831"/>
                  </a:lnTo>
                  <a:lnTo>
                    <a:pt x="35318" y="93129"/>
                  </a:lnTo>
                  <a:lnTo>
                    <a:pt x="39128" y="87426"/>
                  </a:lnTo>
                  <a:lnTo>
                    <a:pt x="66230" y="56515"/>
                  </a:lnTo>
                  <a:lnTo>
                    <a:pt x="98831" y="31508"/>
                  </a:lnTo>
                  <a:lnTo>
                    <a:pt x="110769" y="24739"/>
                  </a:lnTo>
                  <a:lnTo>
                    <a:pt x="116814" y="21501"/>
                  </a:lnTo>
                  <a:lnTo>
                    <a:pt x="123012" y="18580"/>
                  </a:lnTo>
                  <a:lnTo>
                    <a:pt x="129362" y="15951"/>
                  </a:lnTo>
                  <a:lnTo>
                    <a:pt x="135699" y="13322"/>
                  </a:lnTo>
                  <a:lnTo>
                    <a:pt x="142151" y="11010"/>
                  </a:lnTo>
                  <a:lnTo>
                    <a:pt x="148717" y="9029"/>
                  </a:lnTo>
                  <a:lnTo>
                    <a:pt x="155282" y="7035"/>
                  </a:lnTo>
                  <a:lnTo>
                    <a:pt x="161937" y="5359"/>
                  </a:lnTo>
                  <a:lnTo>
                    <a:pt x="168668" y="4025"/>
                  </a:lnTo>
                  <a:lnTo>
                    <a:pt x="175399" y="2679"/>
                  </a:lnTo>
                  <a:lnTo>
                    <a:pt x="182181" y="1676"/>
                  </a:lnTo>
                  <a:lnTo>
                    <a:pt x="189014" y="1003"/>
                  </a:lnTo>
                  <a:lnTo>
                    <a:pt x="195834" y="330"/>
                  </a:lnTo>
                  <a:lnTo>
                    <a:pt x="202692" y="0"/>
                  </a:lnTo>
                  <a:lnTo>
                    <a:pt x="209550" y="0"/>
                  </a:lnTo>
                  <a:lnTo>
                    <a:pt x="3076575" y="0"/>
                  </a:lnTo>
                  <a:lnTo>
                    <a:pt x="3083433" y="0"/>
                  </a:lnTo>
                  <a:lnTo>
                    <a:pt x="3090278" y="330"/>
                  </a:lnTo>
                  <a:lnTo>
                    <a:pt x="3097110" y="1003"/>
                  </a:lnTo>
                  <a:lnTo>
                    <a:pt x="3103943" y="1676"/>
                  </a:lnTo>
                  <a:lnTo>
                    <a:pt x="3110725" y="2679"/>
                  </a:lnTo>
                  <a:lnTo>
                    <a:pt x="3117456" y="4025"/>
                  </a:lnTo>
                  <a:lnTo>
                    <a:pt x="3124187" y="5359"/>
                  </a:lnTo>
                  <a:lnTo>
                    <a:pt x="3156762" y="15951"/>
                  </a:lnTo>
                  <a:lnTo>
                    <a:pt x="3163112" y="18580"/>
                  </a:lnTo>
                  <a:lnTo>
                    <a:pt x="3169310" y="21501"/>
                  </a:lnTo>
                  <a:lnTo>
                    <a:pt x="3175355" y="24739"/>
                  </a:lnTo>
                  <a:lnTo>
                    <a:pt x="3181413" y="27978"/>
                  </a:lnTo>
                  <a:lnTo>
                    <a:pt x="3214814" y="51917"/>
                  </a:lnTo>
                  <a:lnTo>
                    <a:pt x="3242906" y="81915"/>
                  </a:lnTo>
                  <a:lnTo>
                    <a:pt x="3250806" y="93129"/>
                  </a:lnTo>
                  <a:lnTo>
                    <a:pt x="3254629" y="98831"/>
                  </a:lnTo>
                  <a:lnTo>
                    <a:pt x="3270173" y="129362"/>
                  </a:lnTo>
                  <a:lnTo>
                    <a:pt x="3272802" y="135699"/>
                  </a:lnTo>
                  <a:lnTo>
                    <a:pt x="3275101" y="142151"/>
                  </a:lnTo>
                  <a:lnTo>
                    <a:pt x="3277095" y="148717"/>
                  </a:lnTo>
                  <a:lnTo>
                    <a:pt x="3279089" y="155282"/>
                  </a:lnTo>
                  <a:lnTo>
                    <a:pt x="3285782" y="195834"/>
                  </a:lnTo>
                  <a:lnTo>
                    <a:pt x="3286125" y="202679"/>
                  </a:lnTo>
                  <a:lnTo>
                    <a:pt x="3286125" y="209550"/>
                  </a:lnTo>
                  <a:lnTo>
                    <a:pt x="3286125" y="1057276"/>
                  </a:lnTo>
                  <a:lnTo>
                    <a:pt x="3286125" y="1064136"/>
                  </a:lnTo>
                  <a:lnTo>
                    <a:pt x="3285782" y="1070983"/>
                  </a:lnTo>
                  <a:lnTo>
                    <a:pt x="3279089" y="1111533"/>
                  </a:lnTo>
                  <a:lnTo>
                    <a:pt x="3277095" y="1118101"/>
                  </a:lnTo>
                  <a:lnTo>
                    <a:pt x="3275101" y="1124670"/>
                  </a:lnTo>
                  <a:lnTo>
                    <a:pt x="3272802" y="1131124"/>
                  </a:lnTo>
                  <a:lnTo>
                    <a:pt x="3270173" y="1137464"/>
                  </a:lnTo>
                  <a:lnTo>
                    <a:pt x="3267544" y="1143805"/>
                  </a:lnTo>
                  <a:lnTo>
                    <a:pt x="3250806" y="1173694"/>
                  </a:lnTo>
                  <a:lnTo>
                    <a:pt x="3246996" y="1179399"/>
                  </a:lnTo>
                  <a:lnTo>
                    <a:pt x="3219894" y="1210301"/>
                  </a:lnTo>
                  <a:lnTo>
                    <a:pt x="3187293" y="1235318"/>
                  </a:lnTo>
                  <a:lnTo>
                    <a:pt x="3175355" y="1242080"/>
                  </a:lnTo>
                  <a:lnTo>
                    <a:pt x="3169310" y="1245315"/>
                  </a:lnTo>
                  <a:lnTo>
                    <a:pt x="3163112" y="1248247"/>
                  </a:lnTo>
                  <a:lnTo>
                    <a:pt x="3156762" y="1250871"/>
                  </a:lnTo>
                  <a:lnTo>
                    <a:pt x="3150425" y="1253501"/>
                  </a:lnTo>
                  <a:lnTo>
                    <a:pt x="3117456" y="1262797"/>
                  </a:lnTo>
                  <a:lnTo>
                    <a:pt x="3110725" y="1264137"/>
                  </a:lnTo>
                  <a:lnTo>
                    <a:pt x="3103943" y="1265144"/>
                  </a:lnTo>
                  <a:lnTo>
                    <a:pt x="3097110" y="1265814"/>
                  </a:lnTo>
                  <a:lnTo>
                    <a:pt x="3090278" y="1266488"/>
                  </a:lnTo>
                  <a:lnTo>
                    <a:pt x="3083433" y="1266826"/>
                  </a:lnTo>
                  <a:lnTo>
                    <a:pt x="3076575" y="1266826"/>
                  </a:lnTo>
                  <a:lnTo>
                    <a:pt x="209550" y="1266826"/>
                  </a:lnTo>
                  <a:lnTo>
                    <a:pt x="202692" y="1266826"/>
                  </a:lnTo>
                  <a:lnTo>
                    <a:pt x="195834" y="1266488"/>
                  </a:lnTo>
                  <a:lnTo>
                    <a:pt x="189014" y="1265814"/>
                  </a:lnTo>
                  <a:lnTo>
                    <a:pt x="182181" y="1265144"/>
                  </a:lnTo>
                  <a:lnTo>
                    <a:pt x="142151" y="1255807"/>
                  </a:lnTo>
                  <a:lnTo>
                    <a:pt x="129362" y="1250871"/>
                  </a:lnTo>
                  <a:lnTo>
                    <a:pt x="123012" y="1248247"/>
                  </a:lnTo>
                  <a:lnTo>
                    <a:pt x="116814" y="1245315"/>
                  </a:lnTo>
                  <a:lnTo>
                    <a:pt x="110769" y="1242080"/>
                  </a:lnTo>
                  <a:lnTo>
                    <a:pt x="104711" y="1238846"/>
                  </a:lnTo>
                  <a:lnTo>
                    <a:pt x="71310" y="1214904"/>
                  </a:lnTo>
                  <a:lnTo>
                    <a:pt x="47561" y="1190209"/>
                  </a:lnTo>
                  <a:lnTo>
                    <a:pt x="43205" y="1184906"/>
                  </a:lnTo>
                  <a:lnTo>
                    <a:pt x="39128" y="1179399"/>
                  </a:lnTo>
                  <a:lnTo>
                    <a:pt x="35318" y="1173694"/>
                  </a:lnTo>
                  <a:lnTo>
                    <a:pt x="31496" y="1167989"/>
                  </a:lnTo>
                  <a:lnTo>
                    <a:pt x="27978" y="1162105"/>
                  </a:lnTo>
                  <a:lnTo>
                    <a:pt x="24739" y="1156053"/>
                  </a:lnTo>
                  <a:lnTo>
                    <a:pt x="21501" y="1150000"/>
                  </a:lnTo>
                  <a:lnTo>
                    <a:pt x="18580" y="1143805"/>
                  </a:lnTo>
                  <a:lnTo>
                    <a:pt x="15951" y="1137464"/>
                  </a:lnTo>
                  <a:lnTo>
                    <a:pt x="13322" y="1131124"/>
                  </a:lnTo>
                  <a:lnTo>
                    <a:pt x="11010" y="1124670"/>
                  </a:lnTo>
                  <a:lnTo>
                    <a:pt x="9029" y="1118101"/>
                  </a:lnTo>
                  <a:lnTo>
                    <a:pt x="7035" y="1111533"/>
                  </a:lnTo>
                  <a:lnTo>
                    <a:pt x="342" y="1070983"/>
                  </a:lnTo>
                  <a:lnTo>
                    <a:pt x="0" y="1064136"/>
                  </a:lnTo>
                  <a:lnTo>
                    <a:pt x="0" y="1057276"/>
                  </a:lnTo>
                  <a:close/>
                </a:path>
              </a:pathLst>
            </a:custGeom>
            <a:ln w="9525">
              <a:solidFill>
                <a:srgbClr val="7B8453"/>
              </a:solidFill>
            </a:ln>
          </p:spPr>
          <p:txBody>
            <a:bodyPr wrap="square" lIns="0" tIns="0" rIns="0" bIns="0" rtlCol="0"/>
            <a:lstStyle/>
            <a:p>
              <a:endParaRPr/>
            </a:p>
          </p:txBody>
        </p:sp>
      </p:grpSp>
      <p:sp>
        <p:nvSpPr>
          <p:cNvPr id="12" name="object 12"/>
          <p:cNvSpPr txBox="1"/>
          <p:nvPr/>
        </p:nvSpPr>
        <p:spPr>
          <a:xfrm>
            <a:off x="4235450" y="4440237"/>
            <a:ext cx="2759075" cy="966290"/>
          </a:xfrm>
          <a:prstGeom prst="rect">
            <a:avLst/>
          </a:prstGeom>
        </p:spPr>
        <p:txBody>
          <a:bodyPr vert="horz" wrap="square" lIns="0" tIns="17145" rIns="0" bIns="0" rtlCol="0">
            <a:spAutoFit/>
          </a:bodyPr>
          <a:lstStyle/>
          <a:p>
            <a:pPr marL="12700">
              <a:lnSpc>
                <a:spcPct val="100000"/>
              </a:lnSpc>
              <a:spcBef>
                <a:spcPts val="135"/>
              </a:spcBef>
            </a:pPr>
            <a:r>
              <a:rPr lang="en-US" sz="1600" b="1" dirty="0">
                <a:solidFill>
                  <a:schemeClr val="bg1"/>
                </a:solidFill>
                <a:latin typeface="Cambria" panose="02040503050406030204" pitchFamily="18" charset="0"/>
                <a:ea typeface="Cambria" panose="02040503050406030204" pitchFamily="18" charset="0"/>
              </a:rPr>
              <a:t> Adaptive Lighting</a:t>
            </a:r>
          </a:p>
          <a:p>
            <a:pPr marL="12700">
              <a:lnSpc>
                <a:spcPct val="100000"/>
              </a:lnSpc>
              <a:spcBef>
                <a:spcPts val="135"/>
              </a:spcBef>
            </a:pPr>
            <a:r>
              <a:rPr lang="en-US" sz="1600" b="1" dirty="0">
                <a:solidFill>
                  <a:schemeClr val="bg1"/>
                </a:solidFill>
                <a:latin typeface="Cambria" panose="02040503050406030204" pitchFamily="18" charset="0"/>
                <a:ea typeface="Cambria" panose="02040503050406030204" pitchFamily="18" charset="0"/>
              </a:rPr>
              <a:t> </a:t>
            </a:r>
          </a:p>
          <a:p>
            <a:pPr marL="12700">
              <a:lnSpc>
                <a:spcPct val="100000"/>
              </a:lnSpc>
              <a:spcBef>
                <a:spcPts val="135"/>
              </a:spcBef>
            </a:pPr>
            <a:r>
              <a:rPr lang="en-US" sz="1400" b="1" dirty="0">
                <a:solidFill>
                  <a:schemeClr val="bg1"/>
                </a:solidFill>
                <a:latin typeface="Cambria" panose="02040503050406030204" pitchFamily="18" charset="0"/>
                <a:ea typeface="Cambria" panose="02040503050406030204" pitchFamily="18" charset="0"/>
              </a:rPr>
              <a:t>Dynamic brightness control based on visibility needs</a:t>
            </a:r>
            <a:endParaRPr lang="en-US" sz="1400" b="1" dirty="0">
              <a:solidFill>
                <a:schemeClr val="bg1"/>
              </a:solidFill>
              <a:latin typeface="Cambria" panose="02040503050406030204" pitchFamily="18" charset="0"/>
              <a:ea typeface="Cambria" panose="02040503050406030204" pitchFamily="18" charset="0"/>
              <a:cs typeface="SimSun-ExtB"/>
            </a:endParaRPr>
          </a:p>
        </p:txBody>
      </p:sp>
      <p:grpSp>
        <p:nvGrpSpPr>
          <p:cNvPr id="13" name="object 13"/>
          <p:cNvGrpSpPr/>
          <p:nvPr/>
        </p:nvGrpSpPr>
        <p:grpSpPr>
          <a:xfrm>
            <a:off x="7534275" y="4286250"/>
            <a:ext cx="3295650" cy="1276350"/>
            <a:chOff x="7534275" y="4286250"/>
            <a:chExt cx="3295650" cy="1276350"/>
          </a:xfrm>
        </p:grpSpPr>
        <p:sp>
          <p:nvSpPr>
            <p:cNvPr id="14" name="object 14"/>
            <p:cNvSpPr/>
            <p:nvPr/>
          </p:nvSpPr>
          <p:spPr>
            <a:xfrm>
              <a:off x="7539037" y="4291012"/>
              <a:ext cx="3286125" cy="1266825"/>
            </a:xfrm>
            <a:custGeom>
              <a:avLst/>
              <a:gdLst/>
              <a:ahLst/>
              <a:cxnLst/>
              <a:rect l="l" t="t" r="r" b="b"/>
              <a:pathLst>
                <a:path w="3286125" h="1266825">
                  <a:moveTo>
                    <a:pt x="3083445" y="0"/>
                  </a:moveTo>
                  <a:lnTo>
                    <a:pt x="202692" y="0"/>
                  </a:lnTo>
                  <a:lnTo>
                    <a:pt x="195834" y="330"/>
                  </a:lnTo>
                  <a:lnTo>
                    <a:pt x="155282" y="7035"/>
                  </a:lnTo>
                  <a:lnTo>
                    <a:pt x="116814" y="21501"/>
                  </a:lnTo>
                  <a:lnTo>
                    <a:pt x="81915" y="43205"/>
                  </a:lnTo>
                  <a:lnTo>
                    <a:pt x="51917" y="71310"/>
                  </a:lnTo>
                  <a:lnTo>
                    <a:pt x="27978" y="104711"/>
                  </a:lnTo>
                  <a:lnTo>
                    <a:pt x="11010" y="142151"/>
                  </a:lnTo>
                  <a:lnTo>
                    <a:pt x="1676" y="182181"/>
                  </a:lnTo>
                  <a:lnTo>
                    <a:pt x="0" y="202679"/>
                  </a:lnTo>
                  <a:lnTo>
                    <a:pt x="0" y="1057276"/>
                  </a:lnTo>
                  <a:lnTo>
                    <a:pt x="0" y="1064136"/>
                  </a:lnTo>
                  <a:lnTo>
                    <a:pt x="5359" y="1104886"/>
                  </a:lnTo>
                  <a:lnTo>
                    <a:pt x="18580" y="1143805"/>
                  </a:lnTo>
                  <a:lnTo>
                    <a:pt x="39128" y="1179399"/>
                  </a:lnTo>
                  <a:lnTo>
                    <a:pt x="66230" y="1210301"/>
                  </a:lnTo>
                  <a:lnTo>
                    <a:pt x="98831" y="1235318"/>
                  </a:lnTo>
                  <a:lnTo>
                    <a:pt x="135699" y="1253501"/>
                  </a:lnTo>
                  <a:lnTo>
                    <a:pt x="175399" y="1264137"/>
                  </a:lnTo>
                  <a:lnTo>
                    <a:pt x="202692" y="1266826"/>
                  </a:lnTo>
                  <a:lnTo>
                    <a:pt x="3083445" y="1266826"/>
                  </a:lnTo>
                  <a:lnTo>
                    <a:pt x="3124187" y="1261457"/>
                  </a:lnTo>
                  <a:lnTo>
                    <a:pt x="3163100" y="1248247"/>
                  </a:lnTo>
                  <a:lnTo>
                    <a:pt x="3198698" y="1227693"/>
                  </a:lnTo>
                  <a:lnTo>
                    <a:pt x="3229597" y="1200591"/>
                  </a:lnTo>
                  <a:lnTo>
                    <a:pt x="3254629" y="1167989"/>
                  </a:lnTo>
                  <a:lnTo>
                    <a:pt x="3272802" y="1131124"/>
                  </a:lnTo>
                  <a:lnTo>
                    <a:pt x="3283432" y="1091421"/>
                  </a:lnTo>
                  <a:lnTo>
                    <a:pt x="3286125" y="1064136"/>
                  </a:lnTo>
                  <a:lnTo>
                    <a:pt x="3286125" y="202679"/>
                  </a:lnTo>
                  <a:lnTo>
                    <a:pt x="3280752" y="161937"/>
                  </a:lnTo>
                  <a:lnTo>
                    <a:pt x="3267544" y="123012"/>
                  </a:lnTo>
                  <a:lnTo>
                    <a:pt x="3246996" y="87426"/>
                  </a:lnTo>
                  <a:lnTo>
                    <a:pt x="3219894" y="56515"/>
                  </a:lnTo>
                  <a:lnTo>
                    <a:pt x="3187293" y="31508"/>
                  </a:lnTo>
                  <a:lnTo>
                    <a:pt x="3150425" y="13322"/>
                  </a:lnTo>
                  <a:lnTo>
                    <a:pt x="3110725" y="2679"/>
                  </a:lnTo>
                  <a:lnTo>
                    <a:pt x="3090291" y="330"/>
                  </a:lnTo>
                  <a:lnTo>
                    <a:pt x="3083445" y="0"/>
                  </a:lnTo>
                  <a:close/>
                </a:path>
              </a:pathLst>
            </a:custGeom>
            <a:solidFill>
              <a:srgbClr val="616C3B"/>
            </a:solidFill>
          </p:spPr>
          <p:txBody>
            <a:bodyPr wrap="square" lIns="0" tIns="0" rIns="0" bIns="0" rtlCol="0"/>
            <a:lstStyle/>
            <a:p>
              <a:endParaRPr/>
            </a:p>
          </p:txBody>
        </p:sp>
        <p:sp>
          <p:nvSpPr>
            <p:cNvPr id="15" name="object 15"/>
            <p:cNvSpPr/>
            <p:nvPr/>
          </p:nvSpPr>
          <p:spPr>
            <a:xfrm>
              <a:off x="7539037" y="4291012"/>
              <a:ext cx="3286125" cy="1266825"/>
            </a:xfrm>
            <a:custGeom>
              <a:avLst/>
              <a:gdLst/>
              <a:ahLst/>
              <a:cxnLst/>
              <a:rect l="l" t="t" r="r" b="b"/>
              <a:pathLst>
                <a:path w="3286125" h="1266825">
                  <a:moveTo>
                    <a:pt x="0" y="1057276"/>
                  </a:moveTo>
                  <a:lnTo>
                    <a:pt x="0" y="209550"/>
                  </a:lnTo>
                  <a:lnTo>
                    <a:pt x="0" y="202679"/>
                  </a:lnTo>
                  <a:lnTo>
                    <a:pt x="342" y="195834"/>
                  </a:lnTo>
                  <a:lnTo>
                    <a:pt x="1003" y="189001"/>
                  </a:lnTo>
                  <a:lnTo>
                    <a:pt x="1676" y="182181"/>
                  </a:lnTo>
                  <a:lnTo>
                    <a:pt x="2692" y="175399"/>
                  </a:lnTo>
                  <a:lnTo>
                    <a:pt x="4025" y="168668"/>
                  </a:lnTo>
                  <a:lnTo>
                    <a:pt x="5359" y="161937"/>
                  </a:lnTo>
                  <a:lnTo>
                    <a:pt x="7035" y="155282"/>
                  </a:lnTo>
                  <a:lnTo>
                    <a:pt x="9029" y="148717"/>
                  </a:lnTo>
                  <a:lnTo>
                    <a:pt x="11010" y="142151"/>
                  </a:lnTo>
                  <a:lnTo>
                    <a:pt x="13322" y="135699"/>
                  </a:lnTo>
                  <a:lnTo>
                    <a:pt x="15951" y="129362"/>
                  </a:lnTo>
                  <a:lnTo>
                    <a:pt x="18580" y="123012"/>
                  </a:lnTo>
                  <a:lnTo>
                    <a:pt x="35318" y="93129"/>
                  </a:lnTo>
                  <a:lnTo>
                    <a:pt x="39128" y="87426"/>
                  </a:lnTo>
                  <a:lnTo>
                    <a:pt x="66230" y="56515"/>
                  </a:lnTo>
                  <a:lnTo>
                    <a:pt x="98831" y="31508"/>
                  </a:lnTo>
                  <a:lnTo>
                    <a:pt x="110769" y="24739"/>
                  </a:lnTo>
                  <a:lnTo>
                    <a:pt x="116814" y="21501"/>
                  </a:lnTo>
                  <a:lnTo>
                    <a:pt x="123012" y="18580"/>
                  </a:lnTo>
                  <a:lnTo>
                    <a:pt x="129362" y="15951"/>
                  </a:lnTo>
                  <a:lnTo>
                    <a:pt x="135699" y="13322"/>
                  </a:lnTo>
                  <a:lnTo>
                    <a:pt x="142151" y="11010"/>
                  </a:lnTo>
                  <a:lnTo>
                    <a:pt x="148717" y="9029"/>
                  </a:lnTo>
                  <a:lnTo>
                    <a:pt x="155282" y="7035"/>
                  </a:lnTo>
                  <a:lnTo>
                    <a:pt x="161937" y="5359"/>
                  </a:lnTo>
                  <a:lnTo>
                    <a:pt x="168668" y="4025"/>
                  </a:lnTo>
                  <a:lnTo>
                    <a:pt x="175399" y="2679"/>
                  </a:lnTo>
                  <a:lnTo>
                    <a:pt x="182181" y="1676"/>
                  </a:lnTo>
                  <a:lnTo>
                    <a:pt x="189014" y="1003"/>
                  </a:lnTo>
                  <a:lnTo>
                    <a:pt x="195834" y="330"/>
                  </a:lnTo>
                  <a:lnTo>
                    <a:pt x="202692" y="0"/>
                  </a:lnTo>
                  <a:lnTo>
                    <a:pt x="209550" y="0"/>
                  </a:lnTo>
                  <a:lnTo>
                    <a:pt x="3076575" y="0"/>
                  </a:lnTo>
                  <a:lnTo>
                    <a:pt x="3083445" y="0"/>
                  </a:lnTo>
                  <a:lnTo>
                    <a:pt x="3090291" y="330"/>
                  </a:lnTo>
                  <a:lnTo>
                    <a:pt x="3097110" y="1003"/>
                  </a:lnTo>
                  <a:lnTo>
                    <a:pt x="3103943" y="1676"/>
                  </a:lnTo>
                  <a:lnTo>
                    <a:pt x="3110725" y="2679"/>
                  </a:lnTo>
                  <a:lnTo>
                    <a:pt x="3117456" y="4025"/>
                  </a:lnTo>
                  <a:lnTo>
                    <a:pt x="3124187" y="5359"/>
                  </a:lnTo>
                  <a:lnTo>
                    <a:pt x="3156762" y="15951"/>
                  </a:lnTo>
                  <a:lnTo>
                    <a:pt x="3163100" y="18580"/>
                  </a:lnTo>
                  <a:lnTo>
                    <a:pt x="3169310" y="21501"/>
                  </a:lnTo>
                  <a:lnTo>
                    <a:pt x="3175355" y="24739"/>
                  </a:lnTo>
                  <a:lnTo>
                    <a:pt x="3181413" y="27978"/>
                  </a:lnTo>
                  <a:lnTo>
                    <a:pt x="3214814" y="51917"/>
                  </a:lnTo>
                  <a:lnTo>
                    <a:pt x="3242906" y="81915"/>
                  </a:lnTo>
                  <a:lnTo>
                    <a:pt x="3250806" y="93129"/>
                  </a:lnTo>
                  <a:lnTo>
                    <a:pt x="3254629" y="98831"/>
                  </a:lnTo>
                  <a:lnTo>
                    <a:pt x="3270173" y="129362"/>
                  </a:lnTo>
                  <a:lnTo>
                    <a:pt x="3272802" y="135699"/>
                  </a:lnTo>
                  <a:lnTo>
                    <a:pt x="3275114" y="142151"/>
                  </a:lnTo>
                  <a:lnTo>
                    <a:pt x="3277095" y="148717"/>
                  </a:lnTo>
                  <a:lnTo>
                    <a:pt x="3279089" y="155282"/>
                  </a:lnTo>
                  <a:lnTo>
                    <a:pt x="3285782" y="195834"/>
                  </a:lnTo>
                  <a:lnTo>
                    <a:pt x="3286125" y="202679"/>
                  </a:lnTo>
                  <a:lnTo>
                    <a:pt x="3286125" y="209550"/>
                  </a:lnTo>
                  <a:lnTo>
                    <a:pt x="3286125" y="1057276"/>
                  </a:lnTo>
                  <a:lnTo>
                    <a:pt x="3286125" y="1064136"/>
                  </a:lnTo>
                  <a:lnTo>
                    <a:pt x="3285782" y="1070983"/>
                  </a:lnTo>
                  <a:lnTo>
                    <a:pt x="3279089" y="1111533"/>
                  </a:lnTo>
                  <a:lnTo>
                    <a:pt x="3277095" y="1118101"/>
                  </a:lnTo>
                  <a:lnTo>
                    <a:pt x="3275114" y="1124670"/>
                  </a:lnTo>
                  <a:lnTo>
                    <a:pt x="3272802" y="1131124"/>
                  </a:lnTo>
                  <a:lnTo>
                    <a:pt x="3270173" y="1137464"/>
                  </a:lnTo>
                  <a:lnTo>
                    <a:pt x="3267544" y="1143805"/>
                  </a:lnTo>
                  <a:lnTo>
                    <a:pt x="3250806" y="1173694"/>
                  </a:lnTo>
                  <a:lnTo>
                    <a:pt x="3246996" y="1179399"/>
                  </a:lnTo>
                  <a:lnTo>
                    <a:pt x="3219894" y="1210301"/>
                  </a:lnTo>
                  <a:lnTo>
                    <a:pt x="3187293" y="1235318"/>
                  </a:lnTo>
                  <a:lnTo>
                    <a:pt x="3175355" y="1242080"/>
                  </a:lnTo>
                  <a:lnTo>
                    <a:pt x="3169310" y="1245315"/>
                  </a:lnTo>
                  <a:lnTo>
                    <a:pt x="3163100" y="1248247"/>
                  </a:lnTo>
                  <a:lnTo>
                    <a:pt x="3156762" y="1250871"/>
                  </a:lnTo>
                  <a:lnTo>
                    <a:pt x="3150425" y="1253501"/>
                  </a:lnTo>
                  <a:lnTo>
                    <a:pt x="3143973" y="1255807"/>
                  </a:lnTo>
                  <a:lnTo>
                    <a:pt x="3137395" y="1257801"/>
                  </a:lnTo>
                  <a:lnTo>
                    <a:pt x="3130842" y="1259791"/>
                  </a:lnTo>
                  <a:lnTo>
                    <a:pt x="3097110" y="1265814"/>
                  </a:lnTo>
                  <a:lnTo>
                    <a:pt x="3090291" y="1266488"/>
                  </a:lnTo>
                  <a:lnTo>
                    <a:pt x="3083445" y="1266826"/>
                  </a:lnTo>
                  <a:lnTo>
                    <a:pt x="3076575" y="1266826"/>
                  </a:lnTo>
                  <a:lnTo>
                    <a:pt x="209550" y="1266826"/>
                  </a:lnTo>
                  <a:lnTo>
                    <a:pt x="202692" y="1266826"/>
                  </a:lnTo>
                  <a:lnTo>
                    <a:pt x="195834" y="1266488"/>
                  </a:lnTo>
                  <a:lnTo>
                    <a:pt x="189014" y="1265814"/>
                  </a:lnTo>
                  <a:lnTo>
                    <a:pt x="182181" y="1265144"/>
                  </a:lnTo>
                  <a:lnTo>
                    <a:pt x="175399" y="1264137"/>
                  </a:lnTo>
                  <a:lnTo>
                    <a:pt x="168668" y="1262797"/>
                  </a:lnTo>
                  <a:lnTo>
                    <a:pt x="161937" y="1261457"/>
                  </a:lnTo>
                  <a:lnTo>
                    <a:pt x="129362" y="1250871"/>
                  </a:lnTo>
                  <a:lnTo>
                    <a:pt x="123012" y="1248247"/>
                  </a:lnTo>
                  <a:lnTo>
                    <a:pt x="116814" y="1245315"/>
                  </a:lnTo>
                  <a:lnTo>
                    <a:pt x="110769" y="1242080"/>
                  </a:lnTo>
                  <a:lnTo>
                    <a:pt x="104711" y="1238846"/>
                  </a:lnTo>
                  <a:lnTo>
                    <a:pt x="71310" y="1214904"/>
                  </a:lnTo>
                  <a:lnTo>
                    <a:pt x="47561" y="1190209"/>
                  </a:lnTo>
                  <a:lnTo>
                    <a:pt x="43205" y="1184906"/>
                  </a:lnTo>
                  <a:lnTo>
                    <a:pt x="39128" y="1179399"/>
                  </a:lnTo>
                  <a:lnTo>
                    <a:pt x="35318" y="1173694"/>
                  </a:lnTo>
                  <a:lnTo>
                    <a:pt x="31496" y="1167989"/>
                  </a:lnTo>
                  <a:lnTo>
                    <a:pt x="15951" y="1137464"/>
                  </a:lnTo>
                  <a:lnTo>
                    <a:pt x="13322" y="1131124"/>
                  </a:lnTo>
                  <a:lnTo>
                    <a:pt x="11010" y="1124670"/>
                  </a:lnTo>
                  <a:lnTo>
                    <a:pt x="9029" y="1118101"/>
                  </a:lnTo>
                  <a:lnTo>
                    <a:pt x="7035" y="1111533"/>
                  </a:lnTo>
                  <a:lnTo>
                    <a:pt x="5359" y="1104886"/>
                  </a:lnTo>
                  <a:lnTo>
                    <a:pt x="4025" y="1098153"/>
                  </a:lnTo>
                  <a:lnTo>
                    <a:pt x="2692" y="1091421"/>
                  </a:lnTo>
                  <a:lnTo>
                    <a:pt x="1676" y="1084646"/>
                  </a:lnTo>
                  <a:lnTo>
                    <a:pt x="1003" y="1077814"/>
                  </a:lnTo>
                  <a:lnTo>
                    <a:pt x="342" y="1070983"/>
                  </a:lnTo>
                  <a:lnTo>
                    <a:pt x="0" y="1064136"/>
                  </a:lnTo>
                  <a:lnTo>
                    <a:pt x="0" y="1057276"/>
                  </a:lnTo>
                  <a:close/>
                </a:path>
              </a:pathLst>
            </a:custGeom>
            <a:ln w="9525">
              <a:solidFill>
                <a:srgbClr val="7B8453"/>
              </a:solidFill>
            </a:ln>
          </p:spPr>
          <p:txBody>
            <a:bodyPr wrap="square" lIns="0" tIns="0" rIns="0" bIns="0" rtlCol="0"/>
            <a:lstStyle/>
            <a:p>
              <a:endParaRPr/>
            </a:p>
          </p:txBody>
        </p:sp>
      </p:grpSp>
      <p:sp>
        <p:nvSpPr>
          <p:cNvPr id="16" name="object 16"/>
          <p:cNvSpPr txBox="1"/>
          <p:nvPr/>
        </p:nvSpPr>
        <p:spPr>
          <a:xfrm>
            <a:off x="7702550" y="4440237"/>
            <a:ext cx="2959100" cy="935513"/>
          </a:xfrm>
          <a:prstGeom prst="rect">
            <a:avLst/>
          </a:prstGeom>
        </p:spPr>
        <p:txBody>
          <a:bodyPr vert="horz" wrap="square" lIns="0" tIns="17145" rIns="0" bIns="0" rtlCol="0">
            <a:spAutoFit/>
          </a:bodyPr>
          <a:lstStyle/>
          <a:p>
            <a:pPr marL="12700">
              <a:lnSpc>
                <a:spcPct val="100000"/>
              </a:lnSpc>
              <a:spcBef>
                <a:spcPts val="135"/>
              </a:spcBef>
            </a:pPr>
            <a:r>
              <a:rPr lang="en-US" sz="1600" b="1" spc="114" dirty="0">
                <a:solidFill>
                  <a:srgbClr val="FFFFFF"/>
                </a:solidFill>
                <a:latin typeface="Cambria"/>
                <a:cs typeface="Cambria"/>
              </a:rPr>
              <a:t>Energy Efficiency</a:t>
            </a:r>
          </a:p>
          <a:p>
            <a:pPr marL="12700">
              <a:lnSpc>
                <a:spcPct val="100000"/>
              </a:lnSpc>
              <a:spcBef>
                <a:spcPts val="135"/>
              </a:spcBef>
            </a:pPr>
            <a:endParaRPr lang="en-US" sz="1400" b="1" spc="114" dirty="0">
              <a:solidFill>
                <a:srgbClr val="FFFFFF"/>
              </a:solidFill>
              <a:latin typeface="Cambria"/>
              <a:cs typeface="Cambria"/>
            </a:endParaRPr>
          </a:p>
          <a:p>
            <a:pPr marL="12700">
              <a:lnSpc>
                <a:spcPct val="100000"/>
              </a:lnSpc>
              <a:spcBef>
                <a:spcPts val="135"/>
              </a:spcBef>
            </a:pPr>
            <a:r>
              <a:rPr lang="en-US" sz="1400" b="1" spc="114" dirty="0">
                <a:solidFill>
                  <a:srgbClr val="FFFFFF"/>
                </a:solidFill>
                <a:latin typeface="Cambria"/>
                <a:cs typeface="Cambria"/>
              </a:rPr>
              <a:t>Optimized power consumption through intelligent control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8C8EF-B079-294C-3D16-6DB5B415DBE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4E42DF-7A84-251A-1457-CE6A1B72ACD1}"/>
              </a:ext>
            </a:extLst>
          </p:cNvPr>
          <p:cNvSpPr>
            <a:spLocks noGrp="1"/>
          </p:cNvSpPr>
          <p:nvPr>
            <p:ph idx="1"/>
          </p:nvPr>
        </p:nvSpPr>
        <p:spPr/>
        <p:txBody>
          <a:bodyPr>
            <a:normAutofit fontScale="70000" lnSpcReduction="20000"/>
          </a:bodyPr>
          <a:lstStyle/>
          <a:p>
            <a:pPr marL="548640" marR="4445" algn="just">
              <a:lnSpc>
                <a:spcPct val="107000"/>
              </a:lnSpc>
              <a:spcBef>
                <a:spcPts val="1310"/>
              </a:spcBef>
              <a:buSzPts val="1200"/>
              <a:buFont typeface="Times New Roman" panose="02020603050405020304" pitchFamily="18" charset="0"/>
              <a:buAutoNum type="arabicPeriod"/>
              <a:tabLst>
                <a:tab pos="471805" algn="l"/>
              </a:tabLst>
            </a:pPr>
            <a:r>
              <a:rPr lang="en-US" sz="3550" b="1" spc="0" dirty="0">
                <a:solidFill>
                  <a:schemeClr val="tx1">
                    <a:lumMod val="95000"/>
                    <a:lumOff val="5000"/>
                  </a:schemeClr>
                </a:solidFill>
                <a:effectLst/>
                <a:latin typeface="Times New Roman" panose="02020603050405020304" pitchFamily="18" charset="0"/>
                <a:ea typeface="Times New Roman" panose="02020603050405020304" pitchFamily="18" charset="0"/>
              </a:rPr>
              <a:t>Sensing: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Deploy MQ-135 gas sensors on streetlight poles to monitor local air quality.</a:t>
            </a:r>
            <a:endParaRPr lang="en-IN" sz="3150" spc="0" dirty="0">
              <a:solidFill>
                <a:schemeClr val="tx1">
                  <a:lumMod val="95000"/>
                  <a:lumOff val="5000"/>
                </a:schemeClr>
              </a:solidFill>
              <a:effectLst/>
              <a:latin typeface="Times New Roman" panose="02020603050405020304" pitchFamily="18" charset="0"/>
              <a:ea typeface="Times New Roman" panose="02020603050405020304" pitchFamily="18" charset="0"/>
            </a:endParaRPr>
          </a:p>
          <a:p>
            <a:pPr marL="548640" marR="635" algn="just">
              <a:lnSpc>
                <a:spcPct val="107000"/>
              </a:lnSpc>
              <a:buSzPts val="1200"/>
              <a:buFont typeface="Times New Roman" panose="02020603050405020304" pitchFamily="18" charset="0"/>
              <a:buAutoNum type="arabicPeriod"/>
              <a:tabLst>
                <a:tab pos="471805" algn="l"/>
                <a:tab pos="2397125" algn="l"/>
              </a:tabLst>
            </a:pPr>
            <a:r>
              <a:rPr lang="en-US" sz="3550" b="1" spc="0" dirty="0">
                <a:solidFill>
                  <a:schemeClr val="tx1">
                    <a:lumMod val="95000"/>
                    <a:lumOff val="5000"/>
                  </a:schemeClr>
                </a:solidFill>
                <a:effectLst/>
                <a:latin typeface="Times New Roman" panose="02020603050405020304" pitchFamily="18" charset="0"/>
                <a:ea typeface="Times New Roman" panose="02020603050405020304" pitchFamily="18" charset="0"/>
              </a:rPr>
              <a:t>Processing: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Use ESP32 microcontroller</a:t>
            </a:r>
            <a:r>
              <a:rPr lang="en-US" sz="3550" spc="4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for	</a:t>
            </a:r>
            <a:r>
              <a:rPr lang="en-US" sz="3550" spc="-20" dirty="0">
                <a:solidFill>
                  <a:schemeClr val="tx1">
                    <a:lumMod val="95000"/>
                    <a:lumOff val="5000"/>
                  </a:schemeClr>
                </a:solidFill>
                <a:effectLst/>
                <a:latin typeface="Times New Roman" panose="02020603050405020304" pitchFamily="18" charset="0"/>
                <a:ea typeface="Times New Roman" panose="02020603050405020304" pitchFamily="18" charset="0"/>
              </a:rPr>
              <a:t>data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acquisition,</a:t>
            </a:r>
            <a:r>
              <a:rPr lang="en-US" sz="355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filtering,</a:t>
            </a:r>
            <a:r>
              <a:rPr lang="en-US" sz="355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and</a:t>
            </a:r>
            <a:r>
              <a:rPr lang="en-US" sz="3550" spc="4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3550" spc="-10" dirty="0">
                <a:solidFill>
                  <a:schemeClr val="tx1">
                    <a:lumMod val="95000"/>
                    <a:lumOff val="5000"/>
                  </a:schemeClr>
                </a:solidFill>
                <a:effectLst/>
                <a:latin typeface="Times New Roman" panose="02020603050405020304" pitchFamily="18" charset="0"/>
                <a:ea typeface="Times New Roman" panose="02020603050405020304" pitchFamily="18" charset="0"/>
              </a:rPr>
              <a:t>decision-making.</a:t>
            </a:r>
            <a:endParaRPr lang="en-IN" sz="3150" spc="0" dirty="0">
              <a:solidFill>
                <a:schemeClr val="tx1">
                  <a:lumMod val="95000"/>
                  <a:lumOff val="5000"/>
                </a:schemeClr>
              </a:solidFill>
              <a:effectLst/>
              <a:latin typeface="Times New Roman" panose="02020603050405020304" pitchFamily="18" charset="0"/>
              <a:ea typeface="Times New Roman" panose="02020603050405020304" pitchFamily="18" charset="0"/>
            </a:endParaRPr>
          </a:p>
          <a:p>
            <a:pPr marL="548640" marR="5715" algn="just">
              <a:lnSpc>
                <a:spcPct val="107000"/>
              </a:lnSpc>
              <a:buSzPts val="1200"/>
              <a:buFont typeface="Times New Roman" panose="02020603050405020304" pitchFamily="18" charset="0"/>
              <a:buAutoNum type="arabicPeriod"/>
              <a:tabLst>
                <a:tab pos="471805" algn="l"/>
              </a:tabLst>
            </a:pPr>
            <a:r>
              <a:rPr lang="en-US" sz="3550" b="1" spc="0" dirty="0">
                <a:solidFill>
                  <a:schemeClr val="tx1">
                    <a:lumMod val="95000"/>
                    <a:lumOff val="5000"/>
                  </a:schemeClr>
                </a:solidFill>
                <a:effectLst/>
                <a:latin typeface="Times New Roman" panose="02020603050405020304" pitchFamily="18" charset="0"/>
                <a:ea typeface="Times New Roman" panose="02020603050405020304" pitchFamily="18" charset="0"/>
              </a:rPr>
              <a:t>Control: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Adjust LED streetlight brightness through PWM signals based on pollution levels.</a:t>
            </a:r>
            <a:endParaRPr lang="en-IN" sz="3150" spc="0" dirty="0">
              <a:solidFill>
                <a:schemeClr val="tx1">
                  <a:lumMod val="95000"/>
                  <a:lumOff val="5000"/>
                </a:schemeClr>
              </a:solidFill>
              <a:effectLst/>
              <a:latin typeface="Times New Roman" panose="02020603050405020304" pitchFamily="18" charset="0"/>
              <a:ea typeface="Times New Roman" panose="02020603050405020304" pitchFamily="18" charset="0"/>
            </a:endParaRPr>
          </a:p>
          <a:p>
            <a:pPr marL="548640" marR="635" algn="just">
              <a:lnSpc>
                <a:spcPct val="107000"/>
              </a:lnSpc>
              <a:buSzPts val="1200"/>
              <a:buFont typeface="Times New Roman" panose="02020603050405020304" pitchFamily="18" charset="0"/>
              <a:buAutoNum type="arabicPeriod"/>
              <a:tabLst>
                <a:tab pos="471805" algn="l"/>
                <a:tab pos="2105660" algn="l"/>
              </a:tabLst>
            </a:pPr>
            <a:r>
              <a:rPr lang="en-US" sz="3550" b="1" spc="-10" dirty="0">
                <a:solidFill>
                  <a:schemeClr val="tx1">
                    <a:lumMod val="95000"/>
                    <a:lumOff val="5000"/>
                  </a:schemeClr>
                </a:solidFill>
                <a:effectLst/>
                <a:latin typeface="Times New Roman" panose="02020603050405020304" pitchFamily="18" charset="0"/>
                <a:ea typeface="Times New Roman" panose="02020603050405020304" pitchFamily="18" charset="0"/>
              </a:rPr>
              <a:t>Communication:</a:t>
            </a:r>
            <a:r>
              <a:rPr lang="en-US" sz="3550" b="1" spc="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3550" spc="-10" dirty="0">
                <a:solidFill>
                  <a:schemeClr val="tx1">
                    <a:lumMod val="95000"/>
                    <a:lumOff val="5000"/>
                  </a:schemeClr>
                </a:solidFill>
                <a:effectLst/>
                <a:latin typeface="Times New Roman" panose="02020603050405020304" pitchFamily="18" charset="0"/>
                <a:ea typeface="Times New Roman" panose="02020603050405020304" pitchFamily="18" charset="0"/>
              </a:rPr>
              <a:t>Transmit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collected data to a cloud platform using MQTT/HTTP for centralized storage and visualization.</a:t>
            </a:r>
            <a:endParaRPr lang="en-IN" sz="3150" spc="0" dirty="0">
              <a:solidFill>
                <a:schemeClr val="tx1">
                  <a:lumMod val="95000"/>
                  <a:lumOff val="5000"/>
                </a:schemeClr>
              </a:solidFill>
              <a:effectLst/>
              <a:latin typeface="Times New Roman" panose="02020603050405020304" pitchFamily="18" charset="0"/>
              <a:ea typeface="Times New Roman" panose="02020603050405020304" pitchFamily="18" charset="0"/>
            </a:endParaRPr>
          </a:p>
          <a:p>
            <a:pPr marL="548640" algn="just">
              <a:lnSpc>
                <a:spcPct val="107000"/>
              </a:lnSpc>
              <a:buSzPts val="1200"/>
              <a:buFont typeface="Times New Roman" panose="02020603050405020304" pitchFamily="18" charset="0"/>
              <a:buAutoNum type="arabicPeriod"/>
              <a:tabLst>
                <a:tab pos="471805" algn="l"/>
              </a:tabLst>
            </a:pPr>
            <a:r>
              <a:rPr lang="en-US" sz="3550" b="1" spc="0" dirty="0">
                <a:solidFill>
                  <a:schemeClr val="tx1">
                    <a:lumMod val="95000"/>
                    <a:lumOff val="5000"/>
                  </a:schemeClr>
                </a:solidFill>
                <a:effectLst/>
                <a:latin typeface="Times New Roman" panose="02020603050405020304" pitchFamily="18" charset="0"/>
                <a:ea typeface="Times New Roman" panose="02020603050405020304" pitchFamily="18" charset="0"/>
              </a:rPr>
              <a:t>Evaluation: </a:t>
            </a:r>
            <a:r>
              <a:rPr lang="en-US" sz="3550" spc="0" dirty="0">
                <a:solidFill>
                  <a:schemeClr val="tx1">
                    <a:lumMod val="95000"/>
                    <a:lumOff val="5000"/>
                  </a:schemeClr>
                </a:solidFill>
                <a:effectLst/>
                <a:latin typeface="Times New Roman" panose="02020603050405020304" pitchFamily="18" charset="0"/>
                <a:ea typeface="Times New Roman" panose="02020603050405020304" pitchFamily="18" charset="0"/>
              </a:rPr>
              <a:t>Validate sensor readings against reference stations, analyze energy savings, and assess correlation between pollution spikes and lighting adjustments.</a:t>
            </a:r>
            <a:endParaRPr lang="en-IN" sz="3150" spc="0" dirty="0">
              <a:solidFill>
                <a:schemeClr val="tx1">
                  <a:lumMod val="95000"/>
                  <a:lumOff val="5000"/>
                </a:schemeClr>
              </a:solidFill>
              <a:effectLst/>
              <a:latin typeface="Times New Roman" panose="02020603050405020304" pitchFamily="18" charset="0"/>
              <a:ea typeface="Times New Roman" panose="02020603050405020304" pitchFamily="18" charset="0"/>
            </a:endParaRPr>
          </a:p>
        </p:txBody>
      </p:sp>
      <p:sp>
        <p:nvSpPr>
          <p:cNvPr id="4" name="AutoShape 2" descr="https://lh3.googleusercontent.com/gg-dl/AJfQ9KT2ulJemOGOT9ghPuVaEfT0qiKkERs8MAco0S3UxTwjlodQlFQG8b4yh90yrHeeyyy4TyOhNcMs3oXAF1zskYmkvbtSNbjiZJQr__iEFjGY4ccinoGDfea8K1Rc23SPhhYR5znUtqJjYQ7PUChAsFsKeNMcM9pP5PIT0TRCPRVdsqjRUw=s102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67618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Block Diagram For Methodology</a:t>
            </a:r>
            <a:endParaRPr lang="en-IN"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914400" y="2232025"/>
            <a:ext cx="9334499"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802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367A-DEA0-DF02-3744-AE16A457982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BFF933-4177-C05E-3D74-5008011D25F9}"/>
              </a:ext>
            </a:extLst>
          </p:cNvPr>
          <p:cNvSpPr>
            <a:spLocks noGrp="1"/>
          </p:cNvSpPr>
          <p:nvPr>
            <p:ph idx="1"/>
          </p:nvPr>
        </p:nvSpPr>
        <p:spPr/>
        <p:txBody>
          <a:bodyPr>
            <a:normAutofit fontScale="70000" lnSpcReduction="20000"/>
          </a:bodyPr>
          <a:lstStyle/>
          <a:p>
            <a:pPr algn="just">
              <a:lnSpc>
                <a:spcPct val="107000"/>
              </a:lnSpc>
              <a:spcBef>
                <a:spcPts val="905"/>
              </a:spcBef>
              <a:buFont typeface="Arial" panose="020B0604020202020204" pitchFamily="34" charset="0"/>
              <a:buChar char="•"/>
            </a:pPr>
            <a:r>
              <a:rPr lang="en-US" sz="3300" dirty="0" smtClean="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proposed air-pollution-controlled smart street lighting system was successfully implemented and tested in a controlled</a:t>
            </a:r>
            <a:r>
              <a:rPr lang="en-US" sz="3300" spc="2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outdoor</a:t>
            </a:r>
            <a:r>
              <a:rPr lang="en-US" sz="3300" spc="2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environment.</a:t>
            </a:r>
            <a:r>
              <a:rPr lang="en-US" sz="3300" spc="2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300" spc="2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MQ-135 sensor was calibrated against publicly available air-quality index (AQI) data and showed a strong</a:t>
            </a:r>
            <a:r>
              <a:rPr lang="en-US" sz="3300" spc="-2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correlation</a:t>
            </a:r>
            <a:r>
              <a:rPr lang="en-US" sz="3300" spc="-2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(R²</a:t>
            </a:r>
            <a:r>
              <a:rPr lang="en-US" sz="3300" spc="-2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0.82)</a:t>
            </a:r>
            <a:r>
              <a:rPr lang="en-US" sz="3300" spc="37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z="3300" spc="37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reference</a:t>
            </a:r>
            <a:r>
              <a:rPr lang="en-US" sz="3300" spc="37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readings</a:t>
            </a:r>
            <a:r>
              <a:rPr lang="en-US" sz="3300" spc="375"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spc="-1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after</a:t>
            </a:r>
            <a:r>
              <a:rPr lang="en-IN" sz="3300" spc="-1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30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applying linear regression and smoothing </a:t>
            </a:r>
            <a:r>
              <a:rPr lang="en-US" sz="3300" spc="-10" dirty="0" smtClean="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filters.</a:t>
            </a:r>
          </a:p>
          <a:p>
            <a:pPr algn="just">
              <a:lnSpc>
                <a:spcPct val="107000"/>
              </a:lnSpc>
              <a:spcBef>
                <a:spcPts val="905"/>
              </a:spcBef>
              <a:buFont typeface="Arial" panose="020B0604020202020204" pitchFamily="34" charset="0"/>
              <a:buChar char="•"/>
            </a:pPr>
            <a:r>
              <a:rPr lang="en-US" sz="3600" dirty="0" smtClean="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The </a:t>
            </a:r>
            <a:r>
              <a:rPr lang="en-US" sz="36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system responded dynamically to variations in pollution levels. During periods classified as Good Air Quality, streetlight brightness was automatically dimmed to 40%, resulting in an average energy saving of 28–32% compared to constant full brightness operation. Under Moderate conditions, brightness was maintained at 70%, while Poor air quality triggered 100% brightness with a notification alert sent to the municipal </a:t>
            </a:r>
            <a:r>
              <a:rPr lang="en-US" sz="3600" spc="-1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dashboard.</a:t>
            </a:r>
            <a:endParaRPr lang="en-IN" sz="36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Bef>
                <a:spcPts val="905"/>
              </a:spcBef>
              <a:buFont typeface="Arial" panose="020B0604020202020204" pitchFamily="34" charset="0"/>
              <a:buChar char="•"/>
            </a:pPr>
            <a:endParaRPr lang="en-US" sz="3300" spc="-10" dirty="0" smtClean="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398963" y="2786063"/>
            <a:ext cx="1143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283" tIns="38088" rIns="1645719"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4272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27025"/>
            <a:ext cx="9429750" cy="1814790"/>
          </a:xfrm>
        </p:spPr>
        <p:txBody>
          <a:bodyPr/>
          <a:lstStyle/>
          <a:p>
            <a:r>
              <a:rPr lang="en-US" b="1" dirty="0">
                <a:latin typeface="Times New Roman" panose="02020603050405020304" pitchFamily="18" charset="0"/>
                <a:cs typeface="Times New Roman" panose="02020603050405020304" pitchFamily="18" charset="0"/>
              </a:rPr>
              <a:t>Result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5670354"/>
              </p:ext>
            </p:extLst>
          </p:nvPr>
        </p:nvGraphicFramePr>
        <p:xfrm>
          <a:off x="2209802" y="2460625"/>
          <a:ext cx="6934199" cy="4191003"/>
        </p:xfrm>
        <a:graphic>
          <a:graphicData uri="http://schemas.openxmlformats.org/drawingml/2006/table">
            <a:tbl>
              <a:tblPr firstRow="1" firstCol="1" bandRow="1">
                <a:tableStyleId>{5C22544A-7EE6-4342-B048-85BDC9FD1C3A}</a:tableStyleId>
              </a:tblPr>
              <a:tblGrid>
                <a:gridCol w="734651">
                  <a:extLst>
                    <a:ext uri="{9D8B030D-6E8A-4147-A177-3AD203B41FA5}">
                      <a16:colId xmlns:a16="http://schemas.microsoft.com/office/drawing/2014/main" val="695932034"/>
                    </a:ext>
                  </a:extLst>
                </a:gridCol>
                <a:gridCol w="1171516">
                  <a:extLst>
                    <a:ext uri="{9D8B030D-6E8A-4147-A177-3AD203B41FA5}">
                      <a16:colId xmlns:a16="http://schemas.microsoft.com/office/drawing/2014/main" val="1991995177"/>
                    </a:ext>
                  </a:extLst>
                </a:gridCol>
                <a:gridCol w="1171516">
                  <a:extLst>
                    <a:ext uri="{9D8B030D-6E8A-4147-A177-3AD203B41FA5}">
                      <a16:colId xmlns:a16="http://schemas.microsoft.com/office/drawing/2014/main" val="440474474"/>
                    </a:ext>
                  </a:extLst>
                </a:gridCol>
                <a:gridCol w="1382586">
                  <a:extLst>
                    <a:ext uri="{9D8B030D-6E8A-4147-A177-3AD203B41FA5}">
                      <a16:colId xmlns:a16="http://schemas.microsoft.com/office/drawing/2014/main" val="1990006869"/>
                    </a:ext>
                  </a:extLst>
                </a:gridCol>
                <a:gridCol w="1299140">
                  <a:extLst>
                    <a:ext uri="{9D8B030D-6E8A-4147-A177-3AD203B41FA5}">
                      <a16:colId xmlns:a16="http://schemas.microsoft.com/office/drawing/2014/main" val="4230826596"/>
                    </a:ext>
                  </a:extLst>
                </a:gridCol>
                <a:gridCol w="1174790">
                  <a:extLst>
                    <a:ext uri="{9D8B030D-6E8A-4147-A177-3AD203B41FA5}">
                      <a16:colId xmlns:a16="http://schemas.microsoft.com/office/drawing/2014/main" val="2512690428"/>
                    </a:ext>
                  </a:extLst>
                </a:gridCol>
              </a:tblGrid>
              <a:tr h="839878">
                <a:tc>
                  <a:txBody>
                    <a:bodyPr/>
                    <a:lstStyle/>
                    <a:p>
                      <a:pPr marR="19685" algn="just">
                        <a:lnSpc>
                          <a:spcPct val="107000"/>
                        </a:lnSpc>
                        <a:spcAft>
                          <a:spcPts val="0"/>
                        </a:spcAft>
                      </a:pPr>
                      <a:r>
                        <a:rPr lang="en-IN" sz="1200" spc="-10">
                          <a:effectLst/>
                        </a:rPr>
                        <a:t>Sr.</a:t>
                      </a:r>
                      <a:endParaRPr lang="en-IN" sz="1200">
                        <a:effectLst/>
                      </a:endParaRPr>
                    </a:p>
                    <a:p>
                      <a:pPr marR="19685" algn="just">
                        <a:lnSpc>
                          <a:spcPct val="107000"/>
                        </a:lnSpc>
                        <a:spcAft>
                          <a:spcPts val="0"/>
                        </a:spcAft>
                      </a:pPr>
                      <a:r>
                        <a:rPr lang="en-IN" sz="1200" spc="-10">
                          <a:effectLst/>
                        </a:rPr>
                        <a:t>No</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Timesta</a:t>
                      </a:r>
                      <a:r>
                        <a:rPr lang="en-IN" sz="1000">
                          <a:effectLst/>
                        </a:rPr>
                        <a:t>mp</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Air Quality (PPM)</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Air Quality Status</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Street Light Status</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Street Light Status</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67876155"/>
                  </a:ext>
                </a:extLst>
              </a:tr>
              <a:tr h="670225">
                <a:tc>
                  <a:txBody>
                    <a:bodyPr/>
                    <a:lstStyle/>
                    <a:p>
                      <a:pPr marR="19685" algn="just">
                        <a:lnSpc>
                          <a:spcPct val="107000"/>
                        </a:lnSpc>
                        <a:spcAft>
                          <a:spcPts val="0"/>
                        </a:spcAft>
                      </a:pPr>
                      <a:r>
                        <a:rPr lang="en-US" sz="1200" spc="-10">
                          <a:effectLst/>
                        </a:rPr>
                        <a:t> </a:t>
                      </a:r>
                      <a:endParaRPr lang="en-IN" sz="1200">
                        <a:effectLst/>
                      </a:endParaRPr>
                    </a:p>
                    <a:p>
                      <a:pPr marR="19685" algn="just">
                        <a:lnSpc>
                          <a:spcPct val="107000"/>
                        </a:lnSpc>
                        <a:spcAft>
                          <a:spcPts val="0"/>
                        </a:spcAft>
                      </a:pPr>
                      <a:r>
                        <a:rPr lang="en-IN" sz="1200" spc="-10">
                          <a:effectLst/>
                        </a:rPr>
                        <a:t>1</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2025-09</a:t>
                      </a:r>
                      <a:r>
                        <a:rPr lang="en-IN" sz="1000">
                          <a:effectLst/>
                        </a:rPr>
                        <a:t>-</a:t>
                      </a:r>
                      <a:r>
                        <a:rPr lang="en-US" sz="1000">
                          <a:effectLst/>
                        </a:rPr>
                        <a:t>28 18:00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80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IN" sz="1000" spc="-10">
                          <a:effectLst/>
                        </a:rPr>
                        <a:t> </a:t>
                      </a:r>
                      <a:endParaRPr lang="en-IN" sz="1200">
                        <a:effectLst/>
                      </a:endParaRPr>
                    </a:p>
                    <a:p>
                      <a:pPr marR="19685" algn="just">
                        <a:lnSpc>
                          <a:spcPct val="107000"/>
                        </a:lnSpc>
                        <a:spcAft>
                          <a:spcPts val="0"/>
                        </a:spcAft>
                      </a:pPr>
                      <a:r>
                        <a:rPr lang="en-IN" sz="1000" spc="-10">
                          <a:effectLst/>
                        </a:rPr>
                        <a:t>GOOD</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40%</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00850916"/>
                  </a:ext>
                </a:extLst>
              </a:tr>
              <a:tr h="670225">
                <a:tc>
                  <a:txBody>
                    <a:bodyPr/>
                    <a:lstStyle/>
                    <a:p>
                      <a:pPr marR="19685" algn="just">
                        <a:lnSpc>
                          <a:spcPct val="107000"/>
                        </a:lnSpc>
                        <a:spcAft>
                          <a:spcPts val="0"/>
                        </a:spcAft>
                      </a:pPr>
                      <a:r>
                        <a:rPr lang="en-US" sz="1200" spc="-10">
                          <a:effectLst/>
                        </a:rPr>
                        <a:t> </a:t>
                      </a:r>
                      <a:endParaRPr lang="en-IN" sz="1200">
                        <a:effectLst/>
                      </a:endParaRPr>
                    </a:p>
                    <a:p>
                      <a:pPr marR="19685" algn="just">
                        <a:lnSpc>
                          <a:spcPct val="107000"/>
                        </a:lnSpc>
                        <a:spcAft>
                          <a:spcPts val="0"/>
                        </a:spcAft>
                      </a:pPr>
                      <a:r>
                        <a:rPr lang="en-IN" sz="1200" spc="-10">
                          <a:effectLst/>
                        </a:rPr>
                        <a:t>2</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2025-09-28 20:00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150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MODERATE</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IN" sz="1000" spc="-10">
                          <a:effectLst/>
                        </a:rPr>
                        <a:t> </a:t>
                      </a:r>
                      <a:endParaRPr lang="en-IN" sz="1200">
                        <a:effectLst/>
                      </a:endParaRPr>
                    </a:p>
                    <a:p>
                      <a:pPr marR="19685" algn="just">
                        <a:lnSpc>
                          <a:spcPct val="107000"/>
                        </a:lnSpc>
                        <a:spcAft>
                          <a:spcPts val="0"/>
                        </a:spcAft>
                      </a:pPr>
                      <a:r>
                        <a:rPr lang="en-IN" sz="1000" spc="-10">
                          <a:effectLst/>
                        </a:rPr>
                        <a:t>60%</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81480505"/>
                  </a:ext>
                </a:extLst>
              </a:tr>
              <a:tr h="670225">
                <a:tc>
                  <a:txBody>
                    <a:bodyPr/>
                    <a:lstStyle/>
                    <a:p>
                      <a:pPr marR="19685" algn="just">
                        <a:lnSpc>
                          <a:spcPct val="107000"/>
                        </a:lnSpc>
                        <a:spcAft>
                          <a:spcPts val="0"/>
                        </a:spcAft>
                      </a:pPr>
                      <a:r>
                        <a:rPr lang="en-US" sz="1200" spc="-10">
                          <a:effectLst/>
                        </a:rPr>
                        <a:t> </a:t>
                      </a:r>
                      <a:endParaRPr lang="en-IN" sz="1200">
                        <a:effectLst/>
                      </a:endParaRPr>
                    </a:p>
                    <a:p>
                      <a:pPr marR="19685" algn="just">
                        <a:lnSpc>
                          <a:spcPct val="107000"/>
                        </a:lnSpc>
                        <a:spcAft>
                          <a:spcPts val="0"/>
                        </a:spcAft>
                      </a:pPr>
                      <a:r>
                        <a:rPr lang="en-IN" sz="1200" spc="-10">
                          <a:effectLst/>
                        </a:rPr>
                        <a:t>3</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2025-09-28 22:00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250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POOR</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80%</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05467850"/>
                  </a:ext>
                </a:extLst>
              </a:tr>
              <a:tr h="670225">
                <a:tc>
                  <a:txBody>
                    <a:bodyPr/>
                    <a:lstStyle/>
                    <a:p>
                      <a:pPr marR="19685" algn="just">
                        <a:lnSpc>
                          <a:spcPct val="107000"/>
                        </a:lnSpc>
                        <a:spcAft>
                          <a:spcPts val="0"/>
                        </a:spcAft>
                      </a:pPr>
                      <a:r>
                        <a:rPr lang="en-US" sz="1200" spc="-10">
                          <a:effectLst/>
                        </a:rPr>
                        <a:t> </a:t>
                      </a:r>
                      <a:endParaRPr lang="en-IN" sz="1200">
                        <a:effectLst/>
                      </a:endParaRPr>
                    </a:p>
                    <a:p>
                      <a:pPr marR="19685" algn="just">
                        <a:lnSpc>
                          <a:spcPct val="107000"/>
                        </a:lnSpc>
                        <a:spcAft>
                          <a:spcPts val="0"/>
                        </a:spcAft>
                      </a:pPr>
                      <a:r>
                        <a:rPr lang="en-IN" sz="1200" spc="-10">
                          <a:effectLst/>
                        </a:rPr>
                        <a:t>4</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2025-09-29 00:00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350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UNHEALTY</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IN" sz="1000" spc="-10">
                          <a:effectLst/>
                        </a:rPr>
                        <a:t> </a:t>
                      </a:r>
                      <a:endParaRPr lang="en-IN" sz="1200">
                        <a:effectLst/>
                      </a:endParaRPr>
                    </a:p>
                    <a:p>
                      <a:pPr marR="19685" algn="just">
                        <a:lnSpc>
                          <a:spcPct val="107000"/>
                        </a:lnSpc>
                        <a:spcAft>
                          <a:spcPts val="0"/>
                        </a:spcAft>
                      </a:pPr>
                      <a:r>
                        <a:rPr lang="en-IN" sz="1000" spc="-10">
                          <a:effectLst/>
                        </a:rPr>
                        <a:t>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100%</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35292567"/>
                  </a:ext>
                </a:extLst>
              </a:tr>
              <a:tr h="670225">
                <a:tc>
                  <a:txBody>
                    <a:bodyPr/>
                    <a:lstStyle/>
                    <a:p>
                      <a:pPr marR="19685" algn="just">
                        <a:lnSpc>
                          <a:spcPct val="107000"/>
                        </a:lnSpc>
                        <a:spcAft>
                          <a:spcPts val="0"/>
                        </a:spcAft>
                      </a:pPr>
                      <a:r>
                        <a:rPr lang="en-IN" sz="1200" spc="-10">
                          <a:effectLst/>
                        </a:rPr>
                        <a:t> </a:t>
                      </a:r>
                      <a:endParaRPr lang="en-IN" sz="1200">
                        <a:effectLst/>
                      </a:endParaRPr>
                    </a:p>
                    <a:p>
                      <a:pPr marR="19685" algn="just">
                        <a:lnSpc>
                          <a:spcPct val="107000"/>
                        </a:lnSpc>
                        <a:spcAft>
                          <a:spcPts val="0"/>
                        </a:spcAft>
                      </a:pPr>
                      <a:r>
                        <a:rPr lang="en-IN" sz="1200" spc="-10">
                          <a:effectLst/>
                        </a:rPr>
                        <a:t>5</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a:effectLst/>
                        </a:rPr>
                        <a:t>2025-09-29 03:00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90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GOOD</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a:effectLst/>
                        </a:rPr>
                        <a:t> </a:t>
                      </a:r>
                      <a:endParaRPr lang="en-IN" sz="1200">
                        <a:effectLst/>
                      </a:endParaRPr>
                    </a:p>
                    <a:p>
                      <a:pPr marR="19685" algn="just">
                        <a:lnSpc>
                          <a:spcPct val="107000"/>
                        </a:lnSpc>
                        <a:spcAft>
                          <a:spcPts val="0"/>
                        </a:spcAft>
                      </a:pPr>
                      <a:r>
                        <a:rPr lang="en-IN" sz="1000" spc="-10">
                          <a:effectLst/>
                        </a:rPr>
                        <a:t>OFF</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9685" algn="just">
                        <a:lnSpc>
                          <a:spcPct val="107000"/>
                        </a:lnSpc>
                        <a:spcAft>
                          <a:spcPts val="0"/>
                        </a:spcAft>
                      </a:pPr>
                      <a:r>
                        <a:rPr lang="en-US" sz="1000" spc="-10" dirty="0">
                          <a:effectLst/>
                        </a:rPr>
                        <a:t> </a:t>
                      </a:r>
                      <a:endParaRPr lang="en-IN" sz="1200" dirty="0">
                        <a:effectLst/>
                      </a:endParaRPr>
                    </a:p>
                    <a:p>
                      <a:pPr marR="19685" algn="just">
                        <a:lnSpc>
                          <a:spcPct val="107000"/>
                        </a:lnSpc>
                        <a:spcAft>
                          <a:spcPts val="0"/>
                        </a:spcAft>
                      </a:pPr>
                      <a:r>
                        <a:rPr lang="en-IN" sz="1000" spc="-10" dirty="0">
                          <a:effectLst/>
                        </a:rPr>
                        <a:t>0%</a:t>
                      </a:r>
                      <a:endParaRPr lang="en-IN"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64153737"/>
                  </a:ext>
                </a:extLst>
              </a:tr>
            </a:tbl>
          </a:graphicData>
        </a:graphic>
      </p:graphicFrame>
      <p:sp>
        <p:nvSpPr>
          <p:cNvPr id="5" name="Rectangle 1"/>
          <p:cNvSpPr>
            <a:spLocks noChangeArrowheads="1"/>
          </p:cNvSpPr>
          <p:nvPr/>
        </p:nvSpPr>
        <p:spPr bwMode="auto">
          <a:xfrm>
            <a:off x="-8815350" y="-51750"/>
            <a:ext cx="29465450" cy="5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283" tIns="38088" rIns="1645719"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9006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E5082-09CC-60F3-122F-DC1A4D5465E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EBF699-0AB0-32C1-1004-F26C5FE5437C}"/>
              </a:ext>
            </a:extLst>
          </p:cNvPr>
          <p:cNvSpPr>
            <a:spLocks noGrp="1"/>
          </p:cNvSpPr>
          <p:nvPr>
            <p:ph idx="1"/>
          </p:nvPr>
        </p:nvSpPr>
        <p:spPr/>
        <p:txBody>
          <a:bodyPr>
            <a:normAutofit fontScale="77500" lnSpcReduction="20000"/>
          </a:bodyPr>
          <a:lstStyle/>
          <a:p>
            <a:pPr algn="just">
              <a:lnSpc>
                <a:spcPct val="107000"/>
              </a:lnSpc>
              <a:spcBef>
                <a:spcPts val="300"/>
              </a:spcBef>
              <a:buFont typeface="Arial" panose="020B0604020202020204" pitchFamily="34" charset="0"/>
              <a:buChar char="•"/>
            </a:pP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This study demonstrated a novel approach to integrating air-quality monitoring with adaptive street lighting using an MQ-135 sensor and ESP32 microcontroller. The system offers a low-cost, scalable solution for municipalities to address the twin challenges of environmental pollution monitoring and energy management. By dynamically</a:t>
            </a:r>
            <a:r>
              <a:rPr lang="en-US" sz="2800" spc="3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adjusting</a:t>
            </a:r>
            <a:r>
              <a:rPr lang="en-US" sz="2800" spc="37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lighting</a:t>
            </a:r>
            <a:r>
              <a:rPr lang="en-US" sz="2800" spc="37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based</a:t>
            </a:r>
            <a:r>
              <a:rPr lang="en-US" sz="2800" spc="37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spc="-25" dirty="0">
                <a:solidFill>
                  <a:schemeClr val="tx1">
                    <a:lumMod val="95000"/>
                    <a:lumOff val="5000"/>
                  </a:schemeClr>
                </a:solidFill>
                <a:effectLst/>
                <a:latin typeface="Times New Roman" panose="02020603050405020304" pitchFamily="18" charset="0"/>
                <a:ea typeface="Times New Roman" panose="02020603050405020304" pitchFamily="18" charset="0"/>
              </a:rPr>
              <a:t>on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pollution</a:t>
            </a:r>
            <a:r>
              <a:rPr lang="en-US" sz="2800" spc="-3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levels,</a:t>
            </a:r>
            <a:r>
              <a:rPr lang="en-US" sz="2800" spc="-3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the</a:t>
            </a:r>
            <a:r>
              <a:rPr lang="en-US" sz="2800" spc="-3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solution</a:t>
            </a:r>
            <a:r>
              <a:rPr lang="en-US" sz="2800" spc="-3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ensures</a:t>
            </a:r>
            <a:r>
              <a:rPr lang="en-US" sz="2800" spc="-3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safety and visibility while conserving energy during low-pollution periods</a:t>
            </a:r>
            <a:endParaRPr lang="en-IN" sz="2800" dirty="0">
              <a:solidFill>
                <a:schemeClr val="tx1">
                  <a:lumMod val="95000"/>
                  <a:lumOff val="5000"/>
                </a:schemeClr>
              </a:solidFill>
              <a:effectLst/>
              <a:latin typeface="Times New Roman" panose="02020603050405020304" pitchFamily="18" charset="0"/>
              <a:ea typeface="Times New Roman" panose="02020603050405020304" pitchFamily="18" charset="0"/>
            </a:endParaRPr>
          </a:p>
          <a:p>
            <a:pPr marR="635" algn="just">
              <a:lnSpc>
                <a:spcPct val="107000"/>
              </a:lnSpc>
              <a:spcBef>
                <a:spcPts val="1195"/>
              </a:spcBef>
              <a:buFont typeface="Arial" panose="020B0604020202020204" pitchFamily="34" charset="0"/>
              <a:buChar char="•"/>
            </a:pP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The proposed system highlights the potential of leveraging existing infrastructure for sustainable smart-city applications. Although the MQ-135 has inherent</a:t>
            </a:r>
            <a:r>
              <a:rPr lang="en-US" sz="2800" spc="-5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limitations,</a:t>
            </a:r>
            <a:r>
              <a:rPr lang="en-US" sz="2800" spc="-5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careful</a:t>
            </a:r>
            <a:r>
              <a:rPr lang="en-US" sz="2800" spc="-5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calibration</a:t>
            </a:r>
            <a:r>
              <a:rPr lang="en-US" sz="2800" spc="-5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and sensor fusion can enhance reliability. Future extensions with advanced sensors, machine-learning algorithms, and larger deployments will strengthen the applicability of this</a:t>
            </a:r>
            <a:r>
              <a:rPr lang="en-US" sz="2800" spc="-5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model.</a:t>
            </a:r>
            <a:r>
              <a:rPr lang="en-US" sz="2800" spc="-5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Ultimately,</a:t>
            </a:r>
            <a:r>
              <a:rPr lang="en-US" sz="2800" spc="-55"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this research underscores how smart infrastructure can play a pivotal role in fostering</a:t>
            </a:r>
            <a:r>
              <a:rPr lang="en-US" sz="280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cleaner,</a:t>
            </a:r>
            <a:r>
              <a:rPr lang="en-US" sz="280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safer,</a:t>
            </a:r>
            <a:r>
              <a:rPr lang="en-US" sz="280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and</a:t>
            </a:r>
            <a:r>
              <a:rPr lang="en-US" sz="280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more</a:t>
            </a:r>
            <a:r>
              <a:rPr lang="en-US" sz="2800" spc="200" dirty="0">
                <a:solidFill>
                  <a:schemeClr val="tx1">
                    <a:lumMod val="95000"/>
                    <a:lumOff val="5000"/>
                  </a:schemeClr>
                </a:solidFill>
                <a:effectLst/>
                <a:latin typeface="Times New Roman" panose="02020603050405020304" pitchFamily="18" charset="0"/>
                <a:ea typeface="Times New Roman" panose="02020603050405020304" pitchFamily="18" charset="0"/>
              </a:rPr>
              <a:t> </a:t>
            </a:r>
            <a:r>
              <a:rPr lang="en-US" sz="2800" dirty="0">
                <a:solidFill>
                  <a:schemeClr val="tx1">
                    <a:lumMod val="95000"/>
                    <a:lumOff val="5000"/>
                  </a:schemeClr>
                </a:solidFill>
                <a:effectLst/>
                <a:latin typeface="Times New Roman" panose="02020603050405020304" pitchFamily="18" charset="0"/>
                <a:ea typeface="Times New Roman" panose="02020603050405020304" pitchFamily="18" charset="0"/>
              </a:rPr>
              <a:t>energy-efficient cities</a:t>
            </a:r>
            <a:r>
              <a:rPr lang="en-IN" sz="2800" dirty="0">
                <a:solidFill>
                  <a:schemeClr val="tx1">
                    <a:lumMod val="95000"/>
                    <a:lumOff val="5000"/>
                  </a:schemeClr>
                </a:solidFill>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2640674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4D2CA-3972-EEBE-96C2-4CE78CD4DCE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Bibliography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314D1A-5AAF-73BB-EBA2-C1A12F36FE66}"/>
              </a:ext>
            </a:extLst>
          </p:cNvPr>
          <p:cNvSpPr>
            <a:spLocks noGrp="1"/>
          </p:cNvSpPr>
          <p:nvPr>
            <p:ph idx="1"/>
          </p:nvPr>
        </p:nvSpPr>
        <p:spPr>
          <a:xfrm>
            <a:off x="1028699" y="2207259"/>
            <a:ext cx="9429751" cy="5032925"/>
          </a:xfrm>
        </p:spPr>
        <p:txBody>
          <a:bodyPr>
            <a:noAutofit/>
          </a:bodyPr>
          <a:lstStyle/>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[1] F. S. El-</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Faouri</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M.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Sharaiha</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D.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Bargouth</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and A.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Faza</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 smart street lighting system using solar energy," 2016 IEEE PES. Available: A smart street lighting system using solar energy | IEEE Conference Publication | IEEE Xplore</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[2] M.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Dwiyaniti</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 B.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Kusumaningtyas</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S.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Wardono</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K. Sri Lestari and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Tohazen</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 Real-time Performance Monitoring of IoT based on Integrated Smart Streetlight," 2022 6th International Conference on Electrical, Telecommunication and Computer   Engineering   (ELTICOM), Medan, Indonesia, 2022</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[3]S.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Bhisikar</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P. Jagtap, S. Sonawane, H. Sawant and P. Pisal, "Enhanced Streetlight Management: Using IoT and ESP32 for Automated Fault Detection," 2024 IEEE 5th India Council International Subsections Conference (INDISCON), Chandigarh, India, 2024</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[4] STREET LIGHT CONTROL AND AIR QUALITY MONITORING SYSTEM 1Udhaya M, 2Susmitha K, 3Padmavathi V 1Scholar 1Anna University 2021 IJCRT | Volume 9, Issue 5 May 2021 | ISSN: 2320-2882</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[5] R. Majumdar, A. Srivastava, D.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Tulsian</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and V. P. Mishra, "IOT based Street Light Controlling Mechanism,"2019 International Conference on Computational Intelligence and Knowledge Economy (ICCIKE), Dubai, United Arab Emirates, 2019</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[6] K. Sneha, N. Jnana Phaneendra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Sathiraju</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and K. Harish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sai</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"Master Street Light System Integrating Automation and Air Pollution Monitoring for Urban Sustainability," 2024 5th International Conference on Intelligent Communication Technologies and Virtual Mobile Networks (ICICV), Tirunelveli, India, 2024</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[7] B. Goyal et al., "Orchestrating a Sustainable, Energy-Efficient LoRa-Connected Lighting System for Next-Generation  Smart  Cities,"  2023 International Conference on Sustainable Emerging Innovations in Engineering and Technology (ICSEIET), Ghaziabad, India, 2023</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[8] N. Gopinath, D. Ezhilarasi, S. Kiruthika  and  S.  Hemavathi, "Self-Activating Street Lights Using Sensors and Arduino," 2021 4th International Conference on Computing and Communications Technologies (ICCCT), Chennai, India, 2021</a:t>
            </a:r>
          </a:p>
          <a:p>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[9]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Agramelal</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F.; Sadik, M.; Moubarak, Y.; </a:t>
            </a:r>
            <a:r>
              <a:rPr lang="en-IN" sz="1300" dirty="0" err="1">
                <a:solidFill>
                  <a:schemeClr val="tx1">
                    <a:lumMod val="95000"/>
                    <a:lumOff val="5000"/>
                  </a:schemeClr>
                </a:solidFill>
                <a:latin typeface="Times New Roman" panose="02020603050405020304" pitchFamily="18" charset="0"/>
                <a:cs typeface="Times New Roman" panose="02020603050405020304" pitchFamily="18" charset="0"/>
              </a:rPr>
              <a:t>Abouzahir</a:t>
            </a:r>
            <a:r>
              <a:rPr lang="en-IN" sz="1300" dirty="0">
                <a:solidFill>
                  <a:schemeClr val="tx1">
                    <a:lumMod val="95000"/>
                    <a:lumOff val="5000"/>
                  </a:schemeClr>
                </a:solidFill>
                <a:latin typeface="Times New Roman" panose="02020603050405020304" pitchFamily="18" charset="0"/>
                <a:cs typeface="Times New Roman" panose="02020603050405020304" pitchFamily="18" charset="0"/>
              </a:rPr>
              <a:t>, S. Smart Street Light Control: A Review on Methods, Innovations, and Extended Applications. Energies 2023, 16,    7415. https://doi.org/10.3390/en16217415</a:t>
            </a:r>
          </a:p>
          <a:p>
            <a:endParaRPr lang="en-IN" sz="13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67703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4967</TotalTime>
  <Words>1727</Words>
  <Application>Microsoft Office PowerPoint</Application>
  <PresentationFormat>Custom</PresentationFormat>
  <Paragraphs>231</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SimSun</vt:lpstr>
      <vt:lpstr>SimSun-ExtB</vt:lpstr>
      <vt:lpstr>Arial</vt:lpstr>
      <vt:lpstr>Calibri</vt:lpstr>
      <vt:lpstr>Calibri Light</vt:lpstr>
      <vt:lpstr>Cambria</vt:lpstr>
      <vt:lpstr>Times New Roman</vt:lpstr>
      <vt:lpstr>Retrospect</vt:lpstr>
      <vt:lpstr>Air Pollution Based Street Light Controller</vt:lpstr>
      <vt:lpstr>Outline</vt:lpstr>
      <vt:lpstr>Significance of Study</vt:lpstr>
      <vt:lpstr>Symptoms with Main Causes of Stress</vt:lpstr>
      <vt:lpstr>Multidimensional Indications to Identify</vt:lpstr>
      <vt:lpstr>Methods of Air Quality Detection</vt:lpstr>
      <vt:lpstr>Literature Survey paper 1</vt:lpstr>
      <vt:lpstr>Literature Survey paper 2</vt:lpstr>
      <vt:lpstr>Literature Survey paper 3</vt:lpstr>
      <vt:lpstr>Literature Survey paper 4</vt:lpstr>
      <vt:lpstr>Literature Survey Findings(1&amp;2)</vt:lpstr>
      <vt:lpstr>Literature Survey Findings(3&amp;4)</vt:lpstr>
      <vt:lpstr>Problem Statement</vt:lpstr>
      <vt:lpstr>Aim</vt:lpstr>
      <vt:lpstr>Gap Identification</vt:lpstr>
      <vt:lpstr>Project Objective</vt:lpstr>
      <vt:lpstr>Methodology</vt:lpstr>
      <vt:lpstr>Block Diagram For Methodology</vt:lpstr>
      <vt:lpstr>Result</vt:lpstr>
      <vt:lpstr>Result</vt:lpstr>
      <vt:lpstr>Conclusion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creator>Shyam Nahate</dc:creator>
  <cp:lastModifiedBy>Sham</cp:lastModifiedBy>
  <cp:revision>10</cp:revision>
  <dcterms:created xsi:type="dcterms:W3CDTF">2025-09-28T18:33:24Z</dcterms:created>
  <dcterms:modified xsi:type="dcterms:W3CDTF">2025-10-05T16:51:40Z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2025-09-25T00:00:00Z</vt:filetime>
  </property>
  <property fmtid="{D5CDD505-2E9C-101B-9397-08002B2CF9AE}" pid="3" name="Creator">
    <vt:lpwstr>pdf-lib (https://github.com/Hopding/pdf-lib)</vt:lpwstr>
  </property>
  <property fmtid="{D5CDD505-2E9C-101B-9397-08002B2CF9AE}" pid="4" name="LastSaved">
    <vt:filetime>2025-09-28T00:00:00Z</vt:filetime>
  </property>
  <property fmtid="{D5CDD505-2E9C-101B-9397-08002B2CF9AE}" pid="5" name="Producer">
    <vt:lpwstr>GPL Ghostscript 9.56.1</vt:lpwstr>
  </property>
</Properties>
</file>